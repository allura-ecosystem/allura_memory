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10f46b19504902" /><Relationship Type="http://schemas.openxmlformats.org/officeDocument/2006/relationships/extended-properties" Target="/docProps/app.xml" Id="R9dac8f17a5d840ca" /><Relationship Type="http://schemas.openxmlformats.org/officeDocument/2006/relationships/officeDocument" Target="/ppt/presentation.xml" Id="Re7b3c5ea1af3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3a85763cf24931"/>
  </p:sldMasterIdLst>
  <p:notesMasterIdLst>
    <p:notesMasterId xmlns:r="http://schemas.openxmlformats.org/officeDocument/2006/relationships" r:id="R0a2a0cdd45b44a50"/>
  </p:notesMasterIdLst>
  <p:sldIdLst>
    <p:sldId xmlns:r="http://schemas.openxmlformats.org/officeDocument/2006/relationships" id="256" r:id="Rd68ed9673d414872"/>
    <p:sldId xmlns:r="http://schemas.openxmlformats.org/officeDocument/2006/relationships" id="257" r:id="R199d91cb45264f60"/>
    <p:sldId xmlns:r="http://schemas.openxmlformats.org/officeDocument/2006/relationships" id="258" r:id="Rdf62e7db10f4467d"/>
    <p:sldId xmlns:r="http://schemas.openxmlformats.org/officeDocument/2006/relationships" id="259" r:id="R8b2cc913c9094980"/>
    <p:sldId xmlns:r="http://schemas.openxmlformats.org/officeDocument/2006/relationships" id="260" r:id="R5b2b0e7c3a1e4ef1"/>
    <p:sldId xmlns:r="http://schemas.openxmlformats.org/officeDocument/2006/relationships" id="261" r:id="R0336f14e66ec4e0d"/>
    <p:sldId xmlns:r="http://schemas.openxmlformats.org/officeDocument/2006/relationships" id="262" r:id="Rd6b7cc43da5341fe"/>
    <p:sldId xmlns:r="http://schemas.openxmlformats.org/officeDocument/2006/relationships" id="263" r:id="Rc5ceedc4604d4aca"/>
    <p:sldId xmlns:r="http://schemas.openxmlformats.org/officeDocument/2006/relationships" id="264" r:id="Rea18dfc37818470b"/>
    <p:sldId xmlns:r="http://schemas.openxmlformats.org/officeDocument/2006/relationships" id="265" r:id="R472e8e4641e145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141dc09ee14d75" /><Relationship Type="http://schemas.openxmlformats.org/officeDocument/2006/relationships/slideMaster" Target="/ppt/slideMasters/slideMaster1.xml" Id="Rb53a85763cf24931" /><Relationship Type="http://schemas.openxmlformats.org/officeDocument/2006/relationships/notesMaster" Target="/ppt/notesMasters/notesMaster1.xml" Id="R0a2a0cdd45b44a50" /><Relationship Type="http://schemas.openxmlformats.org/officeDocument/2006/relationships/presProps" Target="/ppt/presProps.xml" Id="Rbc7425095b314ab3" /><Relationship Type="http://schemas.openxmlformats.org/officeDocument/2006/relationships/tableStyles" Target="/ppt/tableStyles.xml" Id="Rce2ba887098442cd" /><Relationship Type="http://schemas.openxmlformats.org/officeDocument/2006/relationships/slide" Target="/ppt/slides/slide1.xml" Id="Rd68ed9673d414872" /><Relationship Type="http://schemas.openxmlformats.org/officeDocument/2006/relationships/slide" Target="/ppt/slides/slide2.xml" Id="R199d91cb45264f60" /><Relationship Type="http://schemas.openxmlformats.org/officeDocument/2006/relationships/slide" Target="/ppt/slides/slide3.xml" Id="Rdf62e7db10f4467d" /><Relationship Type="http://schemas.openxmlformats.org/officeDocument/2006/relationships/slide" Target="/ppt/slides/slide4.xml" Id="R8b2cc913c9094980" /><Relationship Type="http://schemas.openxmlformats.org/officeDocument/2006/relationships/slide" Target="/ppt/slides/slide5.xml" Id="R5b2b0e7c3a1e4ef1" /><Relationship Type="http://schemas.openxmlformats.org/officeDocument/2006/relationships/slide" Target="/ppt/slides/slide6.xml" Id="R0336f14e66ec4e0d" /><Relationship Type="http://schemas.openxmlformats.org/officeDocument/2006/relationships/slide" Target="/ppt/slides/slide7.xml" Id="Rd6b7cc43da5341fe" /><Relationship Type="http://schemas.openxmlformats.org/officeDocument/2006/relationships/slide" Target="/ppt/slides/slide8.xml" Id="Rc5ceedc4604d4aca" /><Relationship Type="http://schemas.openxmlformats.org/officeDocument/2006/relationships/slide" Target="/ppt/slides/slide9.xml" Id="Rea18dfc37818470b" /><Relationship Type="http://schemas.openxmlformats.org/officeDocument/2006/relationships/slide" Target="/ppt/slides/slide10.xml" Id="R472e8e4641e1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db150a9df74f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f3d9f60501434f" /><Relationship Type="http://schemas.openxmlformats.org/officeDocument/2006/relationships/notesMaster" Target="/ppt/notesMasters/notesMaster1.xml" Id="R79a9a43d14f1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861b5547384f22" /><Relationship Type="http://schemas.openxmlformats.org/officeDocument/2006/relationships/notesMaster" Target="/ppt/notesMasters/notesMaster1.xml" Id="Rf857135f50fb46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5c54dc785041d7" /><Relationship Type="http://schemas.openxmlformats.org/officeDocument/2006/relationships/notesMaster" Target="/ppt/notesMasters/notesMaster1.xml" Id="Rb1ef64f0d8924c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b5efafe074667" /><Relationship Type="http://schemas.openxmlformats.org/officeDocument/2006/relationships/notesMaster" Target="/ppt/notesMasters/notesMaster1.xml" Id="R7f08434876a542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e2b3af1ba04e57" /><Relationship Type="http://schemas.openxmlformats.org/officeDocument/2006/relationships/notesMaster" Target="/ppt/notesMasters/notesMaster1.xml" Id="R13aaac1895dc4e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b9a603a7341b6" /><Relationship Type="http://schemas.openxmlformats.org/officeDocument/2006/relationships/notesMaster" Target="/ppt/notesMasters/notesMaster1.xml" Id="R58a0ab34bd7d45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e8fb1387e74483" /><Relationship Type="http://schemas.openxmlformats.org/officeDocument/2006/relationships/notesMaster" Target="/ppt/notesMasters/notesMaster1.xml" Id="R8a293f5d9a2d4d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2c4cb6e6bf4c16" /><Relationship Type="http://schemas.openxmlformats.org/officeDocument/2006/relationships/notesMaster" Target="/ppt/notesMasters/notesMaster1.xml" Id="R5c82765fe80a4d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156ac68ec34271" /><Relationship Type="http://schemas.openxmlformats.org/officeDocument/2006/relationships/notesMaster" Target="/ppt/notesMasters/notesMaster1.xml" Id="Ra7a9c8a9e47d45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1df8d49dbc4ddc" /><Relationship Type="http://schemas.openxmlformats.org/officeDocument/2006/relationships/notesMaster" Target="/ppt/notesMasters/notesMaster1.xml" Id="R25c6b915c3c243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Bank of America job posting (accessed 2026-09-01)</a:t>
            </a:r>
          </a:p>
          <a:p xmlns:a="http://schemas.openxmlformats.org/drawingml/2006/main">
            <a:r>
              <a:t>- docs/portfolio/allura-bofa-principal-engineer/SOURCES.md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Open with scope and boundary: this shows engineering evidence, not a client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Bank of America job posting (accessed 2026-09-01)</a:t>
            </a:r>
          </a:p>
          <a:p xmlns:a="http://schemas.openxmlformats.org/drawingml/2006/main">
            <a:r>
              <a:t>- FRAMEWORK.md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Map the job’s themes directly to the following visuals.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§§ Architecture, Orchestration, Policy, Harness, Interfaces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 Simulator harness and evaluation</a:t>
            </a:r>
          </a:p>
          <a:p xmlns:a="http://schemas.openxmlformats.org/drawingml/2006/main">
            <a:r>
              <a:t>- GitHub Actions run 33502490831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 Memory patterns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§§ Policy hooks and tool calling, Governance and 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 Developer interfaces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Actions run 33502490831</a:t>
            </a:r>
          </a:p>
          <a:p xmlns:a="http://schemas.openxmlformats.org/drawingml/2006/main">
            <a:r>
              <a:t>- artifacts/dashboard-demo/manifest.json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artifacts/dashboard-demo/manifest.json</a:t>
            </a:r>
          </a:p>
          <a:p xmlns:a="http://schemas.openxmlformats.org/drawingml/2006/main">
            <a:r>
              <a:t>- artifacts/dashboard-demo/curator.png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Explain the capture boundary and point to the machine-readable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docs/portfolio/allura-bofa-principal-engineer/SOURCES.md</a:t>
            </a:r>
          </a:p>
          <a:p xmlns:a="http://schemas.openxmlformats.org/drawingml/2006/main">
            <a:r>
              <a:t>- docs/portfolio/allura-bofa-principal-engineer/qa/BRAND-RELEASE-GATE.md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Close by making verification easy and stating what this case study does not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40f4e411047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1878851e594a4f" /><Relationship Type="http://schemas.openxmlformats.org/officeDocument/2006/relationships/slideLayout" Target="/ppt/slideLayouts/slideLayout1.xml" Id="Rf846dcd3a90a48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46dcd3a90a48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ff9c0aa524734" /><Relationship Type="http://schemas.openxmlformats.org/officeDocument/2006/relationships/image" Target="/ppt/media/image.png" Id="Rde5b2ded24bd468a" /><Relationship Type="http://schemas.openxmlformats.org/officeDocument/2006/relationships/notesSlide" Target="/ppt/notesSlides/notesSlide1.xml" Id="R313a2c477f58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96dd426904634" /><Relationship Type="http://schemas.openxmlformats.org/officeDocument/2006/relationships/image" Target="/ppt/media/image2.png" Id="Rb26f5905ba484d6d" /><Relationship Type="http://schemas.openxmlformats.org/officeDocument/2006/relationships/notesSlide" Target="/ppt/notesSlides/notesSlide2.xml" Id="R1076336dd51a4a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21541abea4394" /><Relationship Type="http://schemas.openxmlformats.org/officeDocument/2006/relationships/image" Target="/ppt/media/image3.png" Id="Rc0b9cb19616f45f3" /><Relationship Type="http://schemas.openxmlformats.org/officeDocument/2006/relationships/notesSlide" Target="/ppt/notesSlides/notesSlide3.xml" Id="R8f6265f12840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7836f117d4e5b" /><Relationship Type="http://schemas.openxmlformats.org/officeDocument/2006/relationships/image" Target="/ppt/media/image4.png" Id="Rf2d28c4e8edd4c0b" /><Relationship Type="http://schemas.openxmlformats.org/officeDocument/2006/relationships/notesSlide" Target="/ppt/notesSlides/notesSlide4.xml" Id="Rf6aacf57baaa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3c53d45ec42ec" /><Relationship Type="http://schemas.openxmlformats.org/officeDocument/2006/relationships/image" Target="/ppt/media/image5.png" Id="Rc92f9cbd81ef4b60" /><Relationship Type="http://schemas.openxmlformats.org/officeDocument/2006/relationships/notesSlide" Target="/ppt/notesSlides/notesSlide5.xml" Id="Rc76ec03dc1064e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57a92cd1f45c5" /><Relationship Type="http://schemas.openxmlformats.org/officeDocument/2006/relationships/image" Target="/ppt/media/image6.png" Id="R4554ae313baa4055" /><Relationship Type="http://schemas.openxmlformats.org/officeDocument/2006/relationships/notesSlide" Target="/ppt/notesSlides/notesSlide6.xml" Id="R8792704033da4a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cc92421d2441a" /><Relationship Type="http://schemas.openxmlformats.org/officeDocument/2006/relationships/image" Target="/ppt/media/image7.png" Id="R890b85cc892c416a" /><Relationship Type="http://schemas.openxmlformats.org/officeDocument/2006/relationships/notesSlide" Target="/ppt/notesSlides/notesSlide7.xml" Id="R54a28c13000f4d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47af05523404e" /><Relationship Type="http://schemas.openxmlformats.org/officeDocument/2006/relationships/image" Target="/ppt/media/image8.png" Id="R2891d62cf7c14e24" /><Relationship Type="http://schemas.openxmlformats.org/officeDocument/2006/relationships/notesSlide" Target="/ppt/notesSlides/notesSlide8.xml" Id="R4b80a2308a3e4f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f9700263432e" /><Relationship Type="http://schemas.openxmlformats.org/officeDocument/2006/relationships/image" Target="/ppt/media/image9.png" Id="Re4d38dbc9a294c72" /><Relationship Type="http://schemas.openxmlformats.org/officeDocument/2006/relationships/image" Target="/ppt/media/image10.png" Id="R73e0dde858444652" /><Relationship Type="http://schemas.openxmlformats.org/officeDocument/2006/relationships/notesSlide" Target="/ppt/notesSlides/notesSlide9.xml" Id="Rb3f429ead2ec4c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7949e43864c26" /><Relationship Type="http://schemas.openxmlformats.org/officeDocument/2006/relationships/image" Target="/ppt/media/image11.png" Id="R884dbf21223e46e9" /><Relationship Type="http://schemas.openxmlformats.org/officeDocument/2006/relationships/notesSlide" Target="/ppt/notesSlides/notesSlide10.xml" Id="R981690a29ff146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b2ded24bd468a"/>
          <a:stretch xmlns:a="http://schemas.openxmlformats.org/drawingml/2006/main"/>
        </p:blipFill>
        <p:spPr>
          <a:xfrm xmlns:a="http://schemas.openxmlformats.org/drawingml/2006/main">
            <a:off x="514350" y="299142"/>
            <a:ext cx="1066800" cy="354216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7DC8106-2547-4B0B-9CEC-B5DFAC0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ALLURA / TECHNICAL PORTFOLIO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0AA15B-1CF3-4A1E-AC24-554EDB33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01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757B4E48-9E57-4BEF-B59C-50EC11D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5" name="title-panel">
            <a:extLst xmlns:a="http://schemas.openxmlformats.org/drawingml/2006/main">
              <a:ext uri="{FF2B5EF4-FFF2-40B4-BE49-F238E27FC236}">
                <a16:creationId xmlns:a16="http://schemas.microsoft.com/office/drawing/2014/main" id="{52BF1CB5-DC57-43FA-B691-913DFC32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63300" cy="3667125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0">
            <a:solidFill>
              <a:srgbClr val="0F1720"/>
            </a:solidFill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E5B6080B-4298-4E90-A335-6A3C838A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D1F"/>
                </a:solidFill>
              </a:defRPr>
            </a:pPr>
            <a:r>
              <a:rPr sz="1125" b="1">
                <a:solidFill>
                  <a:srgbClr val="FF4D1F"/>
                </a:solidFill>
              </a:rPr>
              <a:t>AGENTIC AI FRAMEWORK &amp; HARNESS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3DADF7C-CADD-4B1E-BB44-6AC557B3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288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3EE"/>
                </a:solidFill>
              </a:defRPr>
            </a:pPr>
            <a:r>
              <a:rPr sz="4050" b="1">
                <a:solidFill>
                  <a:srgbClr val="F7F3EE"/>
                </a:solidFill>
              </a:rPr>
              <a:t>Evidence-first</a:t>
            </a:r>
          </a:p>
          <a:p xmlns:a="http://schemas.openxmlformats.org/drawingml/2006/main">
            <a:pPr algn="l">
              <a:defRPr sz="4050" b="1">
                <a:solidFill>
                  <a:srgbClr val="F7F3EE"/>
                </a:solidFill>
              </a:defRPr>
            </a:pPr>
            <a:r>
              <a:rPr sz="4050" b="1">
                <a:solidFill>
                  <a:srgbClr val="F7F3EE"/>
                </a:solidFill>
              </a:rPr>
              <a:t>enterprise AI systems.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5527080A-49FC-4841-B0AB-B47B2FBD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E"/>
                </a:solidFill>
              </a:defRPr>
            </a:pPr>
            <a:r>
              <a:rPr sz="1500" b="0">
                <a:solidFill>
                  <a:srgbClr val="F7F3EE"/>
                </a:solidFill>
              </a:rPr>
              <a:t>A technical case study of orchestration, governed memory, policy hooks, deterministic evaluation and developer interfaces.</a:t>
            </a:r>
          </a:p>
        </p:txBody>
      </p:sp>
      <p:sp>
        <p:nvSpPr>
          <p:cNvPr id="9" name="blue-module">
            <a:extLst xmlns:a="http://schemas.openxmlformats.org/drawingml/2006/main">
              <a:ext uri="{FF2B5EF4-FFF2-40B4-BE49-F238E27FC236}">
                <a16:creationId xmlns:a16="http://schemas.microsoft.com/office/drawing/2014/main" id="{7918A4AC-8735-4B43-B55E-17FD391E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1952625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0" name="orange-module">
            <a:extLst xmlns:a="http://schemas.openxmlformats.org/drawingml/2006/main">
              <a:ext uri="{FF2B5EF4-FFF2-40B4-BE49-F238E27FC236}">
                <a16:creationId xmlns:a16="http://schemas.microsoft.com/office/drawing/2014/main" id="{0AACAFDF-FACD-44B0-9E4E-00C58B8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908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11" name="green-module">
            <a:extLst xmlns:a="http://schemas.openxmlformats.org/drawingml/2006/main">
              <a:ext uri="{FF2B5EF4-FFF2-40B4-BE49-F238E27FC236}">
                <a16:creationId xmlns:a16="http://schemas.microsoft.com/office/drawing/2014/main" id="{F75EF943-C0A0-41DF-9F16-C761E264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05250"/>
            <a:ext cx="857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12" name="role">
            <a:extLst xmlns:a="http://schemas.openxmlformats.org/drawingml/2006/main">
              <a:ext uri="{FF2B5EF4-FFF2-40B4-BE49-F238E27FC236}">
                <a16:creationId xmlns:a16="http://schemas.microsoft.com/office/drawing/2014/main" id="{67DD0968-5A5B-472F-803A-265CE93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Role-aligned to Principal Engineer, Agentic AI Framework and Harness</a:t>
            </a:r>
          </a:p>
        </p:txBody>
      </p:sp>
      <p:sp>
        <p:nvSpPr>
          <p:cNvPr id="13" name="disclaimer">
            <a:extLst xmlns:a="http://schemas.openxmlformats.org/drawingml/2006/main">
              <a:ext uri="{FF2B5EF4-FFF2-40B4-BE49-F238E27FC236}">
                <a16:creationId xmlns:a16="http://schemas.microsoft.com/office/drawing/2014/main" id="{0E3247C2-EA5C-410F-AA2C-279EF8AE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Prepared as a portfolio presentation. It does not imply Bank of America sponsorship, employment or deployment.</a:t>
            </a:r>
          </a:p>
        </p:txBody>
      </p:sp>
    </p:spTree>
    <p:extLst>
      <p:ext uri="{BB962C8B-B14F-4D97-AF65-F5344CB8AC3E}">
        <p14:creationId xmlns:p14="http://schemas.microsoft.com/office/powerpoint/2010/main" val="1462650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f5905ba484d6d"/>
          <a:stretch xmlns:a="http://schemas.openxmlformats.org/drawingml/2006/main"/>
        </p:blipFill>
        <p:spPr>
          <a:xfrm xmlns:a="http://schemas.openxmlformats.org/drawingml/2006/main">
            <a:off x="514350" y="299142"/>
            <a:ext cx="1066800" cy="354216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4093D41-EA38-4C12-8432-D67885F8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ALLURA MEMORY / PORTFOLIO EVIDENCE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160426-54A7-46B0-BA9A-AE134E41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02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2268B1F6-F0A7-4E7A-81A4-4BA16927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161A473-9639-4A54-B01D-F571758B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0"/>
                </a:solidFill>
              </a:defRPr>
            </a:pPr>
            <a:r>
              <a:rPr sz="2475" b="1">
                <a:solidFill>
                  <a:srgbClr val="0F1720"/>
                </a:solidFill>
              </a:rPr>
              <a:t>What this portfolio demonstrates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0C856186-6740-43F0-9C2B-52927105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A"/>
                </a:solidFill>
              </a:defRPr>
            </a:pPr>
            <a:r>
              <a:rPr sz="1350" b="0">
                <a:solidFill>
                  <a:srgbClr val="59616A"/>
                </a:solidFill>
              </a:rPr>
              <a:t>The role calls for reusable frameworks, deterministic harnesses, memory, policy hooks and developer interfaces. Each claim below has a repository or CI source.</a:t>
            </a:r>
          </a:p>
        </p:txBody>
      </p:sp>
      <p:sp>
        <p:nvSpPr>
          <p:cNvPr id="7" name="theme-0">
            <a:extLst xmlns:a="http://schemas.openxmlformats.org/drawingml/2006/main">
              <a:ext uri="{FF2B5EF4-FFF2-40B4-BE49-F238E27FC236}">
                <a16:creationId xmlns:a16="http://schemas.microsoft.com/office/drawing/2014/main" id="{BC220D07-1ABC-4E6C-9456-B4AD67E6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19050">
            <a:solidFill>
              <a:srgbClr val="0D47A1"/>
            </a:solidFill>
            <a:prstDash val="solid"/>
          </a:ln>
        </p:spPr>
      </p:sp>
      <p:sp>
        <p:nvSpPr>
          <p:cNvPr id="8" name="theme-kicker-0">
            <a:extLst xmlns:a="http://schemas.openxmlformats.org/drawingml/2006/main">
              <a:ext uri="{FF2B5EF4-FFF2-40B4-BE49-F238E27FC236}">
                <a16:creationId xmlns:a16="http://schemas.microsoft.com/office/drawing/2014/main" id="{4E464D74-29CA-4986-8D09-2AED82D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FRAMEWORK</a:t>
            </a:r>
          </a:p>
        </p:txBody>
      </p:sp>
      <p:sp>
        <p:nvSpPr>
          <p:cNvPr id="9" name="theme-heading-0">
            <a:extLst xmlns:a="http://schemas.openxmlformats.org/drawingml/2006/main">
              <a:ext uri="{FF2B5EF4-FFF2-40B4-BE49-F238E27FC236}">
                <a16:creationId xmlns:a16="http://schemas.microsoft.com/office/drawing/2014/main" id="{4B3585E0-6C70-4E40-BD2C-DCAD742A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Reusable execution path</a:t>
            </a:r>
          </a:p>
        </p:txBody>
      </p:sp>
      <p:sp>
        <p:nvSpPr>
          <p:cNvPr id="10" name="theme-body-0">
            <a:extLst xmlns:a="http://schemas.openxmlformats.org/drawingml/2006/main">
              <a:ext uri="{FF2B5EF4-FFF2-40B4-BE49-F238E27FC236}">
                <a16:creationId xmlns:a16="http://schemas.microsoft.com/office/drawing/2014/main" id="{0A70701B-F82C-425C-B06A-1750A26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Orchestration plus shared interfaces</a:t>
            </a:r>
          </a:p>
        </p:txBody>
      </p:sp>
      <p:sp>
        <p:nvSpPr>
          <p:cNvPr id="11" name="theme-1">
            <a:extLst xmlns:a="http://schemas.openxmlformats.org/drawingml/2006/main">
              <a:ext uri="{FF2B5EF4-FFF2-40B4-BE49-F238E27FC236}">
                <a16:creationId xmlns:a16="http://schemas.microsoft.com/office/drawing/2014/main" id="{FD22DA92-8FA7-4F85-B98B-FF42CF47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19050">
            <a:solidFill>
              <a:srgbClr val="FF4D1F"/>
            </a:solidFill>
            <a:prstDash val="solid"/>
          </a:ln>
        </p:spPr>
      </p:sp>
      <p:sp>
        <p:nvSpPr>
          <p:cNvPr id="12" name="theme-kicker-1">
            <a:extLst xmlns:a="http://schemas.openxmlformats.org/drawingml/2006/main">
              <a:ext uri="{FF2B5EF4-FFF2-40B4-BE49-F238E27FC236}">
                <a16:creationId xmlns:a16="http://schemas.microsoft.com/office/drawing/2014/main" id="{3506A388-606E-4CD4-AB9B-408AB464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D1F"/>
                </a:solidFill>
              </a:defRPr>
            </a:pPr>
            <a:r>
              <a:rPr sz="975" b="1">
                <a:solidFill>
                  <a:srgbClr val="FF4D1F"/>
                </a:solidFill>
              </a:rPr>
              <a:t>HARNESS</a:t>
            </a:r>
          </a:p>
        </p:txBody>
      </p:sp>
      <p:sp>
        <p:nvSpPr>
          <p:cNvPr id="13" name="theme-heading-1">
            <a:extLst xmlns:a="http://schemas.openxmlformats.org/drawingml/2006/main">
              <a:ext uri="{FF2B5EF4-FFF2-40B4-BE49-F238E27FC236}">
                <a16:creationId xmlns:a16="http://schemas.microsoft.com/office/drawing/2014/main" id="{3640566D-2947-4E2A-B465-6FB0EDE1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Deterministic evidence</a:t>
            </a:r>
          </a:p>
        </p:txBody>
      </p:sp>
      <p:sp>
        <p:nvSpPr>
          <p:cNvPr id="14" name="theme-body-1">
            <a:extLst xmlns:a="http://schemas.openxmlformats.org/drawingml/2006/main">
              <a:ext uri="{FF2B5EF4-FFF2-40B4-BE49-F238E27FC236}">
                <a16:creationId xmlns:a16="http://schemas.microsoft.com/office/drawing/2014/main" id="{F15CD8DB-06C5-45E0-AB36-3095EC86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Scenario, receipt, replay, evaluation</a:t>
            </a:r>
          </a:p>
        </p:txBody>
      </p:sp>
      <p:sp>
        <p:nvSpPr>
          <p:cNvPr id="15" name="theme-2">
            <a:extLst xmlns:a="http://schemas.openxmlformats.org/drawingml/2006/main">
              <a:ext uri="{FF2B5EF4-FFF2-40B4-BE49-F238E27FC236}">
                <a16:creationId xmlns:a16="http://schemas.microsoft.com/office/drawing/2014/main" id="{5A4F3A72-EB34-497A-B65D-6B482B86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9050">
            <a:solidFill>
              <a:srgbClr val="148A4B"/>
            </a:solidFill>
            <a:prstDash val="solid"/>
          </a:ln>
        </p:spPr>
      </p:sp>
      <p:sp>
        <p:nvSpPr>
          <p:cNvPr id="16" name="theme-kicker-2">
            <a:extLst xmlns:a="http://schemas.openxmlformats.org/drawingml/2006/main">
              <a:ext uri="{FF2B5EF4-FFF2-40B4-BE49-F238E27FC236}">
                <a16:creationId xmlns:a16="http://schemas.microsoft.com/office/drawing/2014/main" id="{71FE861E-2D2B-49C9-AD56-B946E6A4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8A4B"/>
                </a:solidFill>
              </a:defRPr>
            </a:pPr>
            <a:r>
              <a:rPr sz="975" b="1">
                <a:solidFill>
                  <a:srgbClr val="148A4B"/>
                </a:solidFill>
              </a:rPr>
              <a:t>GOVERNANCE</a:t>
            </a:r>
          </a:p>
        </p:txBody>
      </p:sp>
      <p:sp>
        <p:nvSpPr>
          <p:cNvPr id="17" name="theme-heading-2">
            <a:extLst xmlns:a="http://schemas.openxmlformats.org/drawingml/2006/main">
              <a:ext uri="{FF2B5EF4-FFF2-40B4-BE49-F238E27FC236}">
                <a16:creationId xmlns:a16="http://schemas.microsoft.com/office/drawing/2014/main" id="{4A353F06-BE65-4CC9-AD96-963052D1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Controls in the flow</a:t>
            </a:r>
          </a:p>
        </p:txBody>
      </p:sp>
      <p:sp>
        <p:nvSpPr>
          <p:cNvPr id="18" name="theme-body-2">
            <a:extLst xmlns:a="http://schemas.openxmlformats.org/drawingml/2006/main">
              <a:ext uri="{FF2B5EF4-FFF2-40B4-BE49-F238E27FC236}">
                <a16:creationId xmlns:a16="http://schemas.microsoft.com/office/drawing/2014/main" id="{2B3917FB-9FE1-4546-A9E8-DABEFC0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Proof, policy, RLS, durable audit</a:t>
            </a:r>
          </a:p>
        </p:txBody>
      </p:sp>
      <p:sp>
        <p:nvSpPr>
          <p:cNvPr id="19" name="theme-3">
            <a:extLst xmlns:a="http://schemas.openxmlformats.org/drawingml/2006/main">
              <a:ext uri="{FF2B5EF4-FFF2-40B4-BE49-F238E27FC236}">
                <a16:creationId xmlns:a16="http://schemas.microsoft.com/office/drawing/2014/main" id="{17622553-8CE1-4A0C-B8F8-D127D824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7F3EE"/>
          </a:solidFill>
          <a:ln xmlns:a="http://schemas.openxmlformats.org/drawingml/2006/main" w="19050">
            <a:solidFill>
              <a:srgbClr val="0F1720"/>
            </a:solidFill>
            <a:prstDash val="solid"/>
          </a:ln>
        </p:spPr>
      </p:sp>
      <p:sp>
        <p:nvSpPr>
          <p:cNvPr id="20" name="theme-kicker-3">
            <a:extLst xmlns:a="http://schemas.openxmlformats.org/drawingml/2006/main">
              <a:ext uri="{FF2B5EF4-FFF2-40B4-BE49-F238E27FC236}">
                <a16:creationId xmlns:a16="http://schemas.microsoft.com/office/drawing/2014/main" id="{150C863F-8FCD-4CF6-8AEA-D19FB515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0"/>
                </a:solidFill>
              </a:defRPr>
            </a:pPr>
            <a:r>
              <a:rPr sz="975" b="1">
                <a:solidFill>
                  <a:srgbClr val="0F1720"/>
                </a:solidFill>
              </a:rPr>
              <a:t>DEVELOPER EXPERIENCE</a:t>
            </a:r>
          </a:p>
        </p:txBody>
      </p:sp>
      <p:sp>
        <p:nvSpPr>
          <p:cNvPr id="21" name="theme-heading-3">
            <a:extLst xmlns:a="http://schemas.openxmlformats.org/drawingml/2006/main">
              <a:ext uri="{FF2B5EF4-FFF2-40B4-BE49-F238E27FC236}">
                <a16:creationId xmlns:a16="http://schemas.microsoft.com/office/drawing/2014/main" id="{3DACA27B-838E-4DD5-87A8-21723FC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623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One governed core</a:t>
            </a:r>
          </a:p>
        </p:txBody>
      </p:sp>
      <p:sp>
        <p:nvSpPr>
          <p:cNvPr id="22" name="theme-body-3">
            <a:extLst xmlns:a="http://schemas.openxmlformats.org/drawingml/2006/main">
              <a:ext uri="{FF2B5EF4-FFF2-40B4-BE49-F238E27FC236}">
                <a16:creationId xmlns:a16="http://schemas.microsoft.com/office/drawing/2014/main" id="{B844840A-A86E-4AE2-9306-31B41A8B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SDK, API/MCP and CLI</a:t>
            </a:r>
          </a:p>
        </p:txBody>
      </p:sp>
      <p:sp>
        <p:nvSpPr>
          <p:cNvPr id="23" name="close">
            <a:extLst xmlns:a="http://schemas.openxmlformats.org/drawingml/2006/main">
              <a:ext uri="{FF2B5EF4-FFF2-40B4-BE49-F238E27FC236}">
                <a16:creationId xmlns:a16="http://schemas.microsoft.com/office/drawing/2014/main" id="{A89D924C-FE2D-4C7D-93FD-9DBB9AC3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</a:defRPr>
            </a:pPr>
            <a:r>
              <a:rPr sz="1500" b="1">
                <a:solidFill>
                  <a:srgbClr val="0F1720"/>
                </a:solidFill>
              </a:rPr>
              <a:t>The focus is evidence that a hiring panel can inspect—not a collection of visual claims.</a:t>
            </a:r>
          </a:p>
        </p:txBody>
      </p:sp>
    </p:spTree>
    <p:extLst>
      <p:ext uri="{BB962C8B-B14F-4D97-AF65-F5344CB8AC3E}">
        <p14:creationId xmlns:p14="http://schemas.microsoft.com/office/powerpoint/2010/main" val="1160158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9cb19616f45f3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5606BB53-0A9E-49B1-BDCC-0B57CC69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03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545457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28c4e8edd4c0b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75E8D49E-562D-418F-A197-FD4ECBE9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04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849296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f9cbd81ef4b60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192EB3F5-FE42-4A29-BDDD-6EDD31E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05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1386022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4ae313baa4055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82CAAB2D-88A9-46B0-8860-815F9DB9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06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1254327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b85cc892c416a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3D41CD04-F133-4CDA-96A2-A15573DC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07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76930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1d62cf7c14e24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E78DFA0A-C0CC-42EF-BAE1-D3271550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08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281946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38dbc9a294c72"/>
          <a:stretch xmlns:a="http://schemas.openxmlformats.org/drawingml/2006/main"/>
        </p:blipFill>
        <p:spPr>
          <a:xfrm xmlns:a="http://schemas.openxmlformats.org/drawingml/2006/main">
            <a:off x="514350" y="299142"/>
            <a:ext cx="1066800" cy="354216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3A53F21-30FC-4B6F-A5C4-9E8C0F33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ALLURA MEMORY / PORTFOLIO EVIDENCE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744FCF-58A1-4A22-ACA4-47B8154F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09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80BC392D-48D6-498C-BE16-A5B09E52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6727583-4F3D-4D47-91E9-B11C4E39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0"/>
                </a:solidFill>
              </a:defRPr>
            </a:pPr>
            <a:r>
              <a:rPr sz="2475" b="1">
                <a:solidFill>
                  <a:srgbClr val="0F1720"/>
                </a:solidFill>
              </a:rPr>
              <a:t>Dashboard proof: captured, not invented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FB913DAA-5F83-48EA-8011-04186C4B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A"/>
                </a:solidFill>
              </a:defRPr>
            </a:pPr>
            <a:r>
              <a:rPr sz="1350" b="0">
                <a:solidFill>
                  <a:srgbClr val="59616A"/>
                </a:solidFill>
              </a:rPr>
              <a:t>The Curator route is a real capture from the active local demonstration. The manifest records seven tested routes, all HTTP 200, without captured console or page errors.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C2FB7DDA-7150-406A-9009-3F30C493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66750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9525">
            <a:solidFill>
              <a:srgbClr val="0F172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0dde858444652"/>
          <a:stretch xmlns:a="http://schemas.openxmlformats.org/drawingml/2006/main"/>
        </p:blipFill>
        <p:spPr>
          <a:xfrm xmlns:a="http://schemas.openxmlformats.org/drawingml/2006/main">
            <a:off x="1244130" y="2352675"/>
            <a:ext cx="5207941" cy="3295650"/>
          </a:xfrm>
          <a:prstGeom xmlns:a="http://schemas.openxmlformats.org/drawingml/2006/main" prst="rect">
            <a:avLst/>
          </a:prstGeom>
        </p:spPr>
      </p:pic>
      <p:sp>
        <p:nvSpPr>
          <p:cNvPr id="9" name="metric-0">
            <a:extLst xmlns:a="http://schemas.openxmlformats.org/drawingml/2006/main">
              <a:ext uri="{FF2B5EF4-FFF2-40B4-BE49-F238E27FC236}">
                <a16:creationId xmlns:a16="http://schemas.microsoft.com/office/drawing/2014/main" id="{5BFAA5F7-F905-4529-8536-199C44E2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47A1"/>
                </a:solidFill>
              </a:defRPr>
            </a:pPr>
            <a:r>
              <a:rPr sz="1800" b="1">
                <a:solidFill>
                  <a:srgbClr val="0D47A1"/>
                </a:solidFill>
              </a:rPr>
              <a:t>7 / 7</a:t>
            </a:r>
          </a:p>
        </p:txBody>
      </p:sp>
      <p:sp>
        <p:nvSpPr>
          <p:cNvPr id="10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5B989D63-D017-4CCF-B387-34FAF2C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71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0"/>
                </a:solidFill>
              </a:defRPr>
            </a:pPr>
            <a:r>
              <a:rPr sz="1275" b="1">
                <a:solidFill>
                  <a:srgbClr val="0F1720"/>
                </a:solidFill>
              </a:rPr>
              <a:t>captured routes returned HTTP 200</a:t>
            </a:r>
          </a:p>
        </p:txBody>
      </p:sp>
      <p:sp>
        <p:nvSpPr>
          <p:cNvPr id="11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6F5FAD27-2872-4AC5-BA27-D332EB88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575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74255A44-D180-4A41-B85D-D2B77648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D1F"/>
                </a:solidFill>
              </a:defRPr>
            </a:pPr>
            <a:r>
              <a:rPr sz="1800" b="1">
                <a:solidFill>
                  <a:srgbClr val="FF4D1F"/>
                </a:solidFill>
              </a:rPr>
              <a:t>0</a:t>
            </a:r>
          </a:p>
        </p:txBody>
      </p:sp>
      <p:sp>
        <p:nvSpPr>
          <p:cNvPr id="13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650AF86-329D-423C-92F2-237749DD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719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0"/>
                </a:solidFill>
              </a:defRPr>
            </a:pPr>
            <a:r>
              <a:rPr sz="1275" b="1">
                <a:solidFill>
                  <a:srgbClr val="0F1720"/>
                </a:solidFill>
              </a:rPr>
              <a:t>captured redirects</a:t>
            </a:r>
          </a:p>
        </p:txBody>
      </p:sp>
      <p:sp>
        <p:nvSpPr>
          <p:cNvPr id="14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19646961-5FCD-414A-8A26-7D33666B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576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15" name="metric-2">
            <a:extLst xmlns:a="http://schemas.openxmlformats.org/drawingml/2006/main">
              <a:ext uri="{FF2B5EF4-FFF2-40B4-BE49-F238E27FC236}">
                <a16:creationId xmlns:a16="http://schemas.microsoft.com/office/drawing/2014/main" id="{E6748879-3E50-4391-8427-202B955B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29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B"/>
                </a:solidFill>
              </a:defRPr>
            </a:pPr>
            <a:r>
              <a:rPr sz="1800" b="1">
                <a:solidFill>
                  <a:srgbClr val="148A4B"/>
                </a:solidFill>
              </a:rPr>
              <a:t>0</a:t>
            </a:r>
          </a:p>
        </p:txBody>
      </p:sp>
      <p:sp>
        <p:nvSpPr>
          <p:cNvPr id="16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6B90A50E-2C07-4CBD-B420-149AE86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720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0"/>
                </a:solidFill>
              </a:defRPr>
            </a:pPr>
            <a:r>
              <a:rPr sz="1275" b="1">
                <a:solidFill>
                  <a:srgbClr val="0F1720"/>
                </a:solidFill>
              </a:rPr>
              <a:t>captured console or page errors</a:t>
            </a:r>
          </a:p>
        </p:txBody>
      </p:sp>
      <p:sp>
        <p:nvSpPr>
          <p:cNvPr id="17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21E79CC2-C34D-41E1-9A74-1C5167F3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578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B5BE8168-3A28-4BD3-AF9D-7911AEB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The screenshot is supporting evidence, not a mockup and not a substitute for the system test record.</a:t>
            </a:r>
          </a:p>
        </p:txBody>
      </p:sp>
    </p:spTree>
    <p:extLst>
      <p:ext uri="{BB962C8B-B14F-4D97-AF65-F5344CB8AC3E}">
        <p14:creationId xmlns:p14="http://schemas.microsoft.com/office/powerpoint/2010/main" val="19068738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dbf21223e46e9"/>
          <a:stretch xmlns:a="http://schemas.openxmlformats.org/drawingml/2006/main"/>
        </p:blipFill>
        <p:spPr>
          <a:xfrm xmlns:a="http://schemas.openxmlformats.org/drawingml/2006/main">
            <a:off x="514350" y="299142"/>
            <a:ext cx="1066800" cy="354216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18601BF-80D1-4182-A5BB-449FB9C7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ALLURA MEMORY / PORTFOLIO EVIDENCE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F6725B-C159-45ED-9F3C-3EFE5AB8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10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F9A31F45-8154-4C4A-B4CB-B90C128B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70CDE4-568B-4109-A902-852CAF2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0"/>
                </a:solidFill>
              </a:defRPr>
            </a:pPr>
            <a:r>
              <a:rPr sz="2475" b="1">
                <a:solidFill>
                  <a:srgbClr val="0F1720"/>
                </a:solidFill>
              </a:rPr>
              <a:t>How to verify this portfolio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FA6EAA6-5F51-4AE8-AC44-57C2709A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A"/>
                </a:solidFill>
              </a:defRPr>
            </a:pPr>
            <a:r>
              <a:rPr sz="1425" b="0">
                <a:solidFill>
                  <a:srgbClr val="59616A"/>
                </a:solidFill>
              </a:rPr>
              <a:t>A credible portfolio lets the reviewer separate demonstrated capability from future work.</a:t>
            </a:r>
          </a:p>
        </p:txBody>
      </p:sp>
      <p:sp>
        <p:nvSpPr>
          <p:cNvPr id="7" name="col-0">
            <a:extLst xmlns:a="http://schemas.openxmlformats.org/drawingml/2006/main">
              <a:ext uri="{FF2B5EF4-FFF2-40B4-BE49-F238E27FC236}">
                <a16:creationId xmlns:a16="http://schemas.microsoft.com/office/drawing/2014/main" id="{1EB593CA-164E-44A2-A8CA-A2BCA60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3337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19050">
            <a:solidFill>
              <a:srgbClr val="0D47A1"/>
            </a:solidFill>
            <a:prstDash val="solid"/>
          </a:ln>
        </p:spPr>
      </p:sp>
      <p:sp>
        <p:nvSpPr>
          <p:cNvPr id="8" name="col-kicker-0">
            <a:extLst xmlns:a="http://schemas.openxmlformats.org/drawingml/2006/main">
              <a:ext uri="{FF2B5EF4-FFF2-40B4-BE49-F238E27FC236}">
                <a16:creationId xmlns:a16="http://schemas.microsoft.com/office/drawing/2014/main" id="{558239B4-CDA3-4A5C-A209-3BF3D65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7A1"/>
                </a:solidFill>
              </a:defRPr>
            </a:pPr>
            <a:r>
              <a:rPr sz="1050" b="1">
                <a:solidFill>
                  <a:srgbClr val="0D47A1"/>
                </a:solidFill>
              </a:rPr>
              <a:t>VERIFY NOW</a:t>
            </a:r>
          </a:p>
        </p:txBody>
      </p:sp>
      <p:sp>
        <p:nvSpPr>
          <p:cNvPr id="9" name="dot-0-0">
            <a:extLst xmlns:a="http://schemas.openxmlformats.org/drawingml/2006/main">
              <a:ext uri="{FF2B5EF4-FFF2-40B4-BE49-F238E27FC236}">
                <a16:creationId xmlns:a16="http://schemas.microsoft.com/office/drawing/2014/main" id="{B5573695-7A51-4B01-A7B5-D4DCEC5D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0" name="list-0-0">
            <a:extLst xmlns:a="http://schemas.openxmlformats.org/drawingml/2006/main">
              <a:ext uri="{FF2B5EF4-FFF2-40B4-BE49-F238E27FC236}">
                <a16:creationId xmlns:a16="http://schemas.microsoft.com/office/drawing/2014/main" id="{D61C6675-E99D-4969-86DE-AD873D1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</a:defRPr>
            </a:pPr>
            <a:r>
              <a:rPr sz="1350" b="1">
                <a:solidFill>
                  <a:srgbClr val="0F1720"/>
                </a:solidFill>
              </a:rPr>
              <a:t>Read FRAMEWORK.md</a:t>
            </a:r>
          </a:p>
        </p:txBody>
      </p:sp>
      <p:sp>
        <p:nvSpPr>
          <p:cNvPr id="11" name="dot-0-1">
            <a:extLst xmlns:a="http://schemas.openxmlformats.org/drawingml/2006/main">
              <a:ext uri="{FF2B5EF4-FFF2-40B4-BE49-F238E27FC236}">
                <a16:creationId xmlns:a16="http://schemas.microsoft.com/office/drawing/2014/main" id="{5410B4ED-C03C-4FB0-A91C-2C587140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2" name="list-0-1">
            <a:extLst xmlns:a="http://schemas.openxmlformats.org/drawingml/2006/main">
              <a:ext uri="{FF2B5EF4-FFF2-40B4-BE49-F238E27FC236}">
                <a16:creationId xmlns:a16="http://schemas.microsoft.com/office/drawing/2014/main" id="{8A87B614-B13B-49FF-AB26-F5BCDFD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Inspect PR #138</a:t>
            </a:r>
          </a:p>
        </p:txBody>
      </p:sp>
      <p:sp>
        <p:nvSpPr>
          <p:cNvPr id="13" name="dot-0-2">
            <a:extLst xmlns:a="http://schemas.openxmlformats.org/drawingml/2006/main">
              <a:ext uri="{FF2B5EF4-FFF2-40B4-BE49-F238E27FC236}">
                <a16:creationId xmlns:a16="http://schemas.microsoft.com/office/drawing/2014/main" id="{FDDF6F63-3AEA-4928-A724-542C4ADF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4" name="list-0-2">
            <a:extLst xmlns:a="http://schemas.openxmlformats.org/drawingml/2006/main">
              <a:ext uri="{FF2B5EF4-FFF2-40B4-BE49-F238E27FC236}">
                <a16:creationId xmlns:a16="http://schemas.microsoft.com/office/drawing/2014/main" id="{ACB5449C-6493-442A-BBE3-6D1D23D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Open CI evidence run</a:t>
            </a:r>
          </a:p>
        </p:txBody>
      </p:sp>
      <p:sp>
        <p:nvSpPr>
          <p:cNvPr id="15" name="dot-0-3">
            <a:extLst xmlns:a="http://schemas.openxmlformats.org/drawingml/2006/main">
              <a:ext uri="{FF2B5EF4-FFF2-40B4-BE49-F238E27FC236}">
                <a16:creationId xmlns:a16="http://schemas.microsoft.com/office/drawing/2014/main" id="{823C0385-3CB8-4397-8702-3C9700A3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6" name="list-0-3">
            <a:extLst xmlns:a="http://schemas.openxmlformats.org/drawingml/2006/main">
              <a:ext uri="{FF2B5EF4-FFF2-40B4-BE49-F238E27FC236}">
                <a16:creationId xmlns:a16="http://schemas.microsoft.com/office/drawing/2014/main" id="{A83E1A62-388E-491E-87E7-339FCDE4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Review dashboard manifest</a:t>
            </a:r>
          </a:p>
        </p:txBody>
      </p:sp>
      <p:sp>
        <p:nvSpPr>
          <p:cNvPr id="17" name="col-1">
            <a:extLst xmlns:a="http://schemas.openxmlformats.org/drawingml/2006/main">
              <a:ext uri="{FF2B5EF4-FFF2-40B4-BE49-F238E27FC236}">
                <a16:creationId xmlns:a16="http://schemas.microsoft.com/office/drawing/2014/main" id="{223CB72C-7F12-49CD-909F-192A3108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33337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9050">
            <a:solidFill>
              <a:srgbClr val="148A4B"/>
            </a:solidFill>
            <a:prstDash val="solid"/>
          </a:ln>
        </p:spPr>
      </p:sp>
      <p:sp>
        <p:nvSpPr>
          <p:cNvPr id="18" name="col-kicker-1">
            <a:extLst xmlns:a="http://schemas.openxmlformats.org/drawingml/2006/main">
              <a:ext uri="{FF2B5EF4-FFF2-40B4-BE49-F238E27FC236}">
                <a16:creationId xmlns:a16="http://schemas.microsoft.com/office/drawing/2014/main" id="{09C9B0DB-96C0-4AC1-BE07-AB6C623C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A4B"/>
                </a:solidFill>
              </a:defRPr>
            </a:pPr>
            <a:r>
              <a:rPr sz="1050" b="1">
                <a:solidFill>
                  <a:srgbClr val="148A4B"/>
                </a:solidFill>
              </a:rPr>
              <a:t>DEMONSTRATED HERE</a:t>
            </a:r>
          </a:p>
        </p:txBody>
      </p:sp>
      <p:sp>
        <p:nvSpPr>
          <p:cNvPr id="19" name="dot-1-0">
            <a:extLst xmlns:a="http://schemas.openxmlformats.org/drawingml/2006/main">
              <a:ext uri="{FF2B5EF4-FFF2-40B4-BE49-F238E27FC236}">
                <a16:creationId xmlns:a16="http://schemas.microsoft.com/office/drawing/2014/main" id="{6F1C531D-287F-4154-A723-472BDB4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20" name="list-1-0">
            <a:extLst xmlns:a="http://schemas.openxmlformats.org/drawingml/2006/main">
              <a:ext uri="{FF2B5EF4-FFF2-40B4-BE49-F238E27FC236}">
                <a16:creationId xmlns:a16="http://schemas.microsoft.com/office/drawing/2014/main" id="{A442879B-96E3-4585-B0F0-FF32E36B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</a:defRPr>
            </a:pPr>
            <a:r>
              <a:rPr sz="1350" b="1">
                <a:solidFill>
                  <a:srgbClr val="0F1720"/>
                </a:solidFill>
              </a:rPr>
              <a:t>Framework and harness</a:t>
            </a:r>
          </a:p>
        </p:txBody>
      </p:sp>
      <p:sp>
        <p:nvSpPr>
          <p:cNvPr id="21" name="dot-1-1">
            <a:extLst xmlns:a="http://schemas.openxmlformats.org/drawingml/2006/main">
              <a:ext uri="{FF2B5EF4-FFF2-40B4-BE49-F238E27FC236}">
                <a16:creationId xmlns:a16="http://schemas.microsoft.com/office/drawing/2014/main" id="{C3886B2A-21E5-4967-80E5-93B5C875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22" name="list-1-1">
            <a:extLst xmlns:a="http://schemas.openxmlformats.org/drawingml/2006/main">
              <a:ext uri="{FF2B5EF4-FFF2-40B4-BE49-F238E27FC236}">
                <a16:creationId xmlns:a16="http://schemas.microsoft.com/office/drawing/2014/main" id="{F00E637C-9B37-4ADB-9082-F9B4CCAE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95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Governed memory</a:t>
            </a:r>
          </a:p>
        </p:txBody>
      </p:sp>
      <p:sp>
        <p:nvSpPr>
          <p:cNvPr id="23" name="dot-1-2">
            <a:extLst xmlns:a="http://schemas.openxmlformats.org/drawingml/2006/main">
              <a:ext uri="{FF2B5EF4-FFF2-40B4-BE49-F238E27FC236}">
                <a16:creationId xmlns:a16="http://schemas.microsoft.com/office/drawing/2014/main" id="{A36A2B5F-A526-4562-8034-525A99DF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24" name="list-1-2">
            <a:extLst xmlns:a="http://schemas.openxmlformats.org/drawingml/2006/main">
              <a:ext uri="{FF2B5EF4-FFF2-40B4-BE49-F238E27FC236}">
                <a16:creationId xmlns:a16="http://schemas.microsoft.com/office/drawing/2014/main" id="{360F6E27-3BA3-4927-B297-D7E47396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Policy and audit path</a:t>
            </a:r>
          </a:p>
        </p:txBody>
      </p:sp>
      <p:sp>
        <p:nvSpPr>
          <p:cNvPr id="25" name="dot-1-3">
            <a:extLst xmlns:a="http://schemas.openxmlformats.org/drawingml/2006/main">
              <a:ext uri="{FF2B5EF4-FFF2-40B4-BE49-F238E27FC236}">
                <a16:creationId xmlns:a16="http://schemas.microsoft.com/office/drawing/2014/main" id="{29A4D959-FBE4-4814-B8EC-07AC735E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26" name="list-1-3">
            <a:extLst xmlns:a="http://schemas.openxmlformats.org/drawingml/2006/main">
              <a:ext uri="{FF2B5EF4-FFF2-40B4-BE49-F238E27FC236}">
                <a16:creationId xmlns:a16="http://schemas.microsoft.com/office/drawing/2014/main" id="{23465FC1-197D-44F1-B7FA-97FB762D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Developer interfaces</a:t>
            </a:r>
          </a:p>
        </p:txBody>
      </p:sp>
      <p:sp>
        <p:nvSpPr>
          <p:cNvPr id="27" name="col-2">
            <a:extLst xmlns:a="http://schemas.openxmlformats.org/drawingml/2006/main">
              <a:ext uri="{FF2B5EF4-FFF2-40B4-BE49-F238E27FC236}">
                <a16:creationId xmlns:a16="http://schemas.microsoft.com/office/drawing/2014/main" id="{7D1F1B09-91C1-461E-906B-D9DC65AE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3337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19050">
            <a:solidFill>
              <a:srgbClr val="FF4D1F"/>
            </a:solidFill>
            <a:prstDash val="solid"/>
          </a:ln>
        </p:spPr>
      </p:sp>
      <p:sp>
        <p:nvSpPr>
          <p:cNvPr id="28" name="col-kicker-2">
            <a:extLst xmlns:a="http://schemas.openxmlformats.org/drawingml/2006/main">
              <a:ext uri="{FF2B5EF4-FFF2-40B4-BE49-F238E27FC236}">
                <a16:creationId xmlns:a16="http://schemas.microsoft.com/office/drawing/2014/main" id="{AA9A1CC5-8AC9-4842-A00B-70A3D0C8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1F"/>
                </a:solidFill>
              </a:defRPr>
            </a:pPr>
            <a:r>
              <a:rPr sz="1050" b="1">
                <a:solidFill>
                  <a:srgbClr val="FF4D1F"/>
                </a:solidFill>
              </a:rPr>
              <a:t>NOT CLAIMED</a:t>
            </a:r>
          </a:p>
        </p:txBody>
      </p:sp>
      <p:sp>
        <p:nvSpPr>
          <p:cNvPr id="29" name="dot-2-0">
            <a:extLst xmlns:a="http://schemas.openxmlformats.org/drawingml/2006/main">
              <a:ext uri="{FF2B5EF4-FFF2-40B4-BE49-F238E27FC236}">
                <a16:creationId xmlns:a16="http://schemas.microsoft.com/office/drawing/2014/main" id="{C0BD8B00-A5FC-4CD6-9FAB-BDF9DE9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30" name="list-2-0">
            <a:extLst xmlns:a="http://schemas.openxmlformats.org/drawingml/2006/main">
              <a:ext uri="{FF2B5EF4-FFF2-40B4-BE49-F238E27FC236}">
                <a16:creationId xmlns:a16="http://schemas.microsoft.com/office/drawing/2014/main" id="{FAE508CE-6D84-4F9D-AFD8-B0D4B8CA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86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</a:defRPr>
            </a:pPr>
            <a:r>
              <a:rPr sz="1350" b="1">
                <a:solidFill>
                  <a:srgbClr val="0F1720"/>
                </a:solidFill>
              </a:rPr>
              <a:t>External client deployment</a:t>
            </a:r>
          </a:p>
        </p:txBody>
      </p:sp>
      <p:sp>
        <p:nvSpPr>
          <p:cNvPr id="31" name="dot-2-1">
            <a:extLst xmlns:a="http://schemas.openxmlformats.org/drawingml/2006/main">
              <a:ext uri="{FF2B5EF4-FFF2-40B4-BE49-F238E27FC236}">
                <a16:creationId xmlns:a16="http://schemas.microsoft.com/office/drawing/2014/main" id="{C2A19402-CCAF-4757-BFE2-65863324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32" name="list-2-1">
            <a:extLst xmlns:a="http://schemas.openxmlformats.org/drawingml/2006/main">
              <a:ext uri="{FF2B5EF4-FFF2-40B4-BE49-F238E27FC236}">
                <a16:creationId xmlns:a16="http://schemas.microsoft.com/office/drawing/2014/main" id="{A8F9C625-0588-4B44-9C13-7298C338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95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Bank of America affiliation</a:t>
            </a:r>
          </a:p>
        </p:txBody>
      </p:sp>
      <p:sp>
        <p:nvSpPr>
          <p:cNvPr id="33" name="dot-2-2">
            <a:extLst xmlns:a="http://schemas.openxmlformats.org/drawingml/2006/main">
              <a:ext uri="{FF2B5EF4-FFF2-40B4-BE49-F238E27FC236}">
                <a16:creationId xmlns:a16="http://schemas.microsoft.com/office/drawing/2014/main" id="{76D8F89B-CF73-4B28-8790-1AC81999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34" name="list-2-2">
            <a:extLst xmlns:a="http://schemas.openxmlformats.org/drawingml/2006/main">
              <a:ext uri="{FF2B5EF4-FFF2-40B4-BE49-F238E27FC236}">
                <a16:creationId xmlns:a16="http://schemas.microsoft.com/office/drawing/2014/main" id="{9DDE07BC-D931-454B-A44D-69C53EA3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Production-scale adoption</a:t>
            </a:r>
          </a:p>
        </p:txBody>
      </p:sp>
      <p:sp>
        <p:nvSpPr>
          <p:cNvPr id="35" name="dot-2-3">
            <a:extLst xmlns:a="http://schemas.openxmlformats.org/drawingml/2006/main">
              <a:ext uri="{FF2B5EF4-FFF2-40B4-BE49-F238E27FC236}">
                <a16:creationId xmlns:a16="http://schemas.microsoft.com/office/drawing/2014/main" id="{4592B476-4A0E-4903-B722-CDB2ABF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36" name="list-2-3">
            <a:extLst xmlns:a="http://schemas.openxmlformats.org/drawingml/2006/main">
              <a:ext uri="{FF2B5EF4-FFF2-40B4-BE49-F238E27FC236}">
                <a16:creationId xmlns:a16="http://schemas.microsoft.com/office/drawing/2014/main" id="{1EBF93D2-44F6-410E-9C06-CA5B95E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14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Unverified performance results</a:t>
            </a:r>
          </a:p>
        </p:txBody>
      </p:sp>
      <p:sp>
        <p:nvSpPr>
          <p:cNvPr id="37" name="close">
            <a:extLst xmlns:a="http://schemas.openxmlformats.org/drawingml/2006/main">
              <a:ext uri="{FF2B5EF4-FFF2-40B4-BE49-F238E27FC236}">
                <a16:creationId xmlns:a16="http://schemas.microsoft.com/office/drawing/2014/main" id="{3B87561B-A366-42CE-B80D-90196831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</a:defRPr>
            </a:pPr>
            <a:r>
              <a:rPr sz="1500" b="1">
                <a:solidFill>
                  <a:srgbClr val="0F1720"/>
                </a:solidFill>
              </a:rPr>
              <a:t>The final deliverable includes editable SVGs, source notes, alt text and a production release gate.</a:t>
            </a:r>
          </a:p>
        </p:txBody>
      </p:sp>
    </p:spTree>
    <p:extLst>
      <p:ext uri="{BB962C8B-B14F-4D97-AF65-F5344CB8AC3E}">
        <p14:creationId xmlns:p14="http://schemas.microsoft.com/office/powerpoint/2010/main" val="548033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2026-09-01T12:59:30.1450000Z</dcterms:created>
  <dcterms:modified xsi:type="dcterms:W3CDTF">2026-09-01T12:59:30.1450000Z</dcterms:modified>
</coreProperties>
</file>