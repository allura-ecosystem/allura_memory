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8d023c1cf946ec" /><Relationship Type="http://schemas.openxmlformats.org/officeDocument/2006/relationships/extended-properties" Target="/docProps/app.xml" Id="R2d44736837924c6b" /><Relationship Type="http://schemas.openxmlformats.org/officeDocument/2006/relationships/officeDocument" Target="/ppt/presentation.xml" Id="R1ac685eefabf4b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d4a687acbd46ec"/>
  </p:sldMasterIdLst>
  <p:notesMasterIdLst>
    <p:notesMasterId xmlns:r="http://schemas.openxmlformats.org/officeDocument/2006/relationships" r:id="R8383cbf6d7024f3e"/>
  </p:notesMasterIdLst>
  <p:sldIdLst>
    <p:sldId xmlns:r="http://schemas.openxmlformats.org/officeDocument/2006/relationships" id="256" r:id="R89a07db129fc46ce"/>
    <p:sldId xmlns:r="http://schemas.openxmlformats.org/officeDocument/2006/relationships" id="257" r:id="Ra45a577d7c8e4325"/>
    <p:sldId xmlns:r="http://schemas.openxmlformats.org/officeDocument/2006/relationships" id="258" r:id="R10cbfb274a3d4095"/>
    <p:sldId xmlns:r="http://schemas.openxmlformats.org/officeDocument/2006/relationships" id="259" r:id="R6d6b068fac9140f1"/>
    <p:sldId xmlns:r="http://schemas.openxmlformats.org/officeDocument/2006/relationships" id="260" r:id="Rbe8a0d7ba97d490b"/>
    <p:sldId xmlns:r="http://schemas.openxmlformats.org/officeDocument/2006/relationships" id="261" r:id="R817b20ea40ef4b34"/>
    <p:sldId xmlns:r="http://schemas.openxmlformats.org/officeDocument/2006/relationships" id="262" r:id="Re6eb2bed4a34420c"/>
    <p:sldId xmlns:r="http://schemas.openxmlformats.org/officeDocument/2006/relationships" id="263" r:id="Re33923c0fb5e45b8"/>
    <p:sldId xmlns:r="http://schemas.openxmlformats.org/officeDocument/2006/relationships" id="264" r:id="Re165621d0e024327"/>
    <p:sldId xmlns:r="http://schemas.openxmlformats.org/officeDocument/2006/relationships" id="265" r:id="Rb1a28499e33346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9fe0731dfc43e5" /><Relationship Type="http://schemas.openxmlformats.org/officeDocument/2006/relationships/slideMaster" Target="/ppt/slideMasters/slideMaster1.xml" Id="Rbad4a687acbd46ec" /><Relationship Type="http://schemas.openxmlformats.org/officeDocument/2006/relationships/notesMaster" Target="/ppt/notesMasters/notesMaster1.xml" Id="R8383cbf6d7024f3e" /><Relationship Type="http://schemas.openxmlformats.org/officeDocument/2006/relationships/presProps" Target="/ppt/presProps.xml" Id="R84203b756a1d4148" /><Relationship Type="http://schemas.openxmlformats.org/officeDocument/2006/relationships/tableStyles" Target="/ppt/tableStyles.xml" Id="Rc6d0c1e8f276485d" /><Relationship Type="http://schemas.openxmlformats.org/officeDocument/2006/relationships/slide" Target="/ppt/slides/slide1.xml" Id="R89a07db129fc46ce" /><Relationship Type="http://schemas.openxmlformats.org/officeDocument/2006/relationships/slide" Target="/ppt/slides/slide2.xml" Id="Ra45a577d7c8e4325" /><Relationship Type="http://schemas.openxmlformats.org/officeDocument/2006/relationships/slide" Target="/ppt/slides/slide3.xml" Id="R10cbfb274a3d4095" /><Relationship Type="http://schemas.openxmlformats.org/officeDocument/2006/relationships/slide" Target="/ppt/slides/slide4.xml" Id="R6d6b068fac9140f1" /><Relationship Type="http://schemas.openxmlformats.org/officeDocument/2006/relationships/slide" Target="/ppt/slides/slide5.xml" Id="Rbe8a0d7ba97d490b" /><Relationship Type="http://schemas.openxmlformats.org/officeDocument/2006/relationships/slide" Target="/ppt/slides/slide6.xml" Id="R817b20ea40ef4b34" /><Relationship Type="http://schemas.openxmlformats.org/officeDocument/2006/relationships/slide" Target="/ppt/slides/slide7.xml" Id="Re6eb2bed4a34420c" /><Relationship Type="http://schemas.openxmlformats.org/officeDocument/2006/relationships/slide" Target="/ppt/slides/slide8.xml" Id="Re33923c0fb5e45b8" /><Relationship Type="http://schemas.openxmlformats.org/officeDocument/2006/relationships/slide" Target="/ppt/slides/slide9.xml" Id="Re165621d0e024327" /><Relationship Type="http://schemas.openxmlformats.org/officeDocument/2006/relationships/slide" Target="/ppt/slides/slide10.xml" Id="Rb1a28499e33346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28173da1d34a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80a8e0fdee4cfc" /><Relationship Type="http://schemas.openxmlformats.org/officeDocument/2006/relationships/notesMaster" Target="/ppt/notesMasters/notesMaster1.xml" Id="Rbd55540ca5d747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25d30fbeb84410" /><Relationship Type="http://schemas.openxmlformats.org/officeDocument/2006/relationships/notesMaster" Target="/ppt/notesMasters/notesMaster1.xml" Id="Rb5b319d536844d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157b7713964e40" /><Relationship Type="http://schemas.openxmlformats.org/officeDocument/2006/relationships/notesMaster" Target="/ppt/notesMasters/notesMaster1.xml" Id="R421ea17686864c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3918f75f414cb5" /><Relationship Type="http://schemas.openxmlformats.org/officeDocument/2006/relationships/notesMaster" Target="/ppt/notesMasters/notesMaster1.xml" Id="Ra8430de3279c4b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a3ca7cc1394b7c" /><Relationship Type="http://schemas.openxmlformats.org/officeDocument/2006/relationships/notesMaster" Target="/ppt/notesMasters/notesMaster1.xml" Id="R20b91789a21842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62ec4a18e34a35" /><Relationship Type="http://schemas.openxmlformats.org/officeDocument/2006/relationships/notesMaster" Target="/ppt/notesMasters/notesMaster1.xml" Id="R5479592cd92a44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18e75bbb9e44858" /><Relationship Type="http://schemas.openxmlformats.org/officeDocument/2006/relationships/notesMaster" Target="/ppt/notesMasters/notesMaster1.xml" Id="Rbffa922c07d347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ebefcff7d24705" /><Relationship Type="http://schemas.openxmlformats.org/officeDocument/2006/relationships/notesMaster" Target="/ppt/notesMasters/notesMaster1.xml" Id="Rd7ddfa1d790f4c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33414ef6ae4894" /><Relationship Type="http://schemas.openxmlformats.org/officeDocument/2006/relationships/notesMaster" Target="/ppt/notesMasters/notesMaster1.xml" Id="R45c177caa40f4c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0bbaf516fa41c0" /><Relationship Type="http://schemas.openxmlformats.org/officeDocument/2006/relationships/notesMaster" Target="/ppt/notesMasters/notesMaster1.xml" Id="Rb4579caa9c134a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target role posting (accessed 2026-09-01)</a:t>
            </a:r>
          </a:p>
          <a:p xmlns:a="http://schemas.openxmlformats.org/drawingml/2006/main">
            <a:r>
              <a:t>- docs/portfolio/allura-bofa-principal-engineer/SOURCES.md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Open with scope and boundary: this shows engineering evidence, not a client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target role posting (accessed 2026-09-01)</a:t>
            </a:r>
          </a:p>
          <a:p xmlns:a="http://schemas.openxmlformats.org/drawingml/2006/main">
            <a:r>
              <a:t>- FRAMEWORK.md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Map the job’s themes directly to the following visuals.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FRAMEWORK.md §§ Architecture, Orchestration, Policy, Harness, Interfaces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FRAMEWORK.md § Simulator harness and evaluation</a:t>
            </a:r>
          </a:p>
          <a:p xmlns:a="http://schemas.openxmlformats.org/drawingml/2006/main">
            <a:r>
              <a:t>- GitHub Actions run 33502490831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FRAMEWORK.md § Memory patterns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FRAMEWORK.md §§ Policy hooks and tool calling, Governance and scale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FRAMEWORK.md § Developer interfaces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Actions run 33502490831</a:t>
            </a:r>
          </a:p>
          <a:p xmlns:a="http://schemas.openxmlformats.org/drawingml/2006/main">
            <a:r>
              <a:t>- artifacts/dashboard-demo/manifest.json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Use the graphic to explain the execution boundary and then invite verification through the cited paths.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artifacts/dashboard-demo/manifest.json</a:t>
            </a:r>
          </a:p>
          <a:p xmlns:a="http://schemas.openxmlformats.org/drawingml/2006/main">
            <a:r>
              <a:t>- artifacts/dashboard-demo/curator.png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Explain the capture boundary and point to the machine-readable manifest.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docs/portfolio/allura-bofa-principal-engineer/SOURCES.md</a:t>
            </a:r>
          </a:p>
          <a:p xmlns:a="http://schemas.openxmlformats.org/drawingml/2006/main">
            <a:r>
              <a:t>- docs/portfolio/allura-bofa-principal-engineer/qa/BRAND-RELEASE-GATE.md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Close by making verification easy and stating what this case study does not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e7500bf2c049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4495df138e4e59" /><Relationship Type="http://schemas.openxmlformats.org/officeDocument/2006/relationships/slideLayout" Target="/ppt/slideLayouts/slideLayout1.xml" Id="R489f57eb78dc49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9f57eb78dc49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61edb739947be" /><Relationship Type="http://schemas.openxmlformats.org/officeDocument/2006/relationships/image" Target="/ppt/media/image.png" Id="R92d57c525fda4f54" /><Relationship Type="http://schemas.openxmlformats.org/officeDocument/2006/relationships/notesSlide" Target="/ppt/notesSlides/notesSlide1.xml" Id="Rfa9dd4fd1d5b48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949d0249a45eb" /><Relationship Type="http://schemas.openxmlformats.org/officeDocument/2006/relationships/image" Target="/ppt/media/image2.png" Id="Rc2b04b90632343c4" /><Relationship Type="http://schemas.openxmlformats.org/officeDocument/2006/relationships/notesSlide" Target="/ppt/notesSlides/notesSlide2.xml" Id="R2948358840ee4e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abec4f0634cc9" /><Relationship Type="http://schemas.openxmlformats.org/officeDocument/2006/relationships/image" Target="/ppt/media/image3.png" Id="R897b8ea4b11a4fc2" /><Relationship Type="http://schemas.openxmlformats.org/officeDocument/2006/relationships/notesSlide" Target="/ppt/notesSlides/notesSlide3.xml" Id="R46cc836d2d8043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5b94bc1c84bb9" /><Relationship Type="http://schemas.openxmlformats.org/officeDocument/2006/relationships/image" Target="/ppt/media/image4.png" Id="R9c2de19d7738413c" /><Relationship Type="http://schemas.openxmlformats.org/officeDocument/2006/relationships/notesSlide" Target="/ppt/notesSlides/notesSlide4.xml" Id="Rf81ebbece5ae40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81ffb85334b22" /><Relationship Type="http://schemas.openxmlformats.org/officeDocument/2006/relationships/image" Target="/ppt/media/image5.png" Id="R9f8bb306c6154d11" /><Relationship Type="http://schemas.openxmlformats.org/officeDocument/2006/relationships/notesSlide" Target="/ppt/notesSlides/notesSlide5.xml" Id="R57dab1223ad340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a4d8487cb4f32" /><Relationship Type="http://schemas.openxmlformats.org/officeDocument/2006/relationships/image" Target="/ppt/media/image6.png" Id="R67f3edac2b9046ab" /><Relationship Type="http://schemas.openxmlformats.org/officeDocument/2006/relationships/notesSlide" Target="/ppt/notesSlides/notesSlide6.xml" Id="R5c2ad3ef2d0b42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51debda96426f" /><Relationship Type="http://schemas.openxmlformats.org/officeDocument/2006/relationships/image" Target="/ppt/media/image7.png" Id="R11822850a6bf4436" /><Relationship Type="http://schemas.openxmlformats.org/officeDocument/2006/relationships/notesSlide" Target="/ppt/notesSlides/notesSlide7.xml" Id="Rc473739bad4e43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91e37a4c3648de" /><Relationship Type="http://schemas.openxmlformats.org/officeDocument/2006/relationships/image" Target="/ppt/media/image8.png" Id="R13cb8f0e15b34a73" /><Relationship Type="http://schemas.openxmlformats.org/officeDocument/2006/relationships/notesSlide" Target="/ppt/notesSlides/notesSlide8.xml" Id="R956202a4b4e140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61a0f0244442d" /><Relationship Type="http://schemas.openxmlformats.org/officeDocument/2006/relationships/image" Target="/ppt/media/image9.png" Id="R3352189a353b4fef" /><Relationship Type="http://schemas.openxmlformats.org/officeDocument/2006/relationships/image" Target="/ppt/media/image10.png" Id="R784a7829153f4101" /><Relationship Type="http://schemas.openxmlformats.org/officeDocument/2006/relationships/notesSlide" Target="/ppt/notesSlides/notesSlide9.xml" Id="Rfadf2c4787fe47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77cd67bd54a2c" /><Relationship Type="http://schemas.openxmlformats.org/officeDocument/2006/relationships/image" Target="/ppt/media/image11.png" Id="R16c7abb724474680" /><Relationship Type="http://schemas.openxmlformats.org/officeDocument/2006/relationships/notesSlide" Target="/ppt/notesSlides/notesSlide10.xml" Id="Ra952ec2d031746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d57c525fda4f54"/>
          <a:stretch xmlns:a="http://schemas.openxmlformats.org/drawingml/2006/main"/>
        </p:blipFill>
        <p:spPr>
          <a:xfrm xmlns:a="http://schemas.openxmlformats.org/drawingml/2006/main">
            <a:off x="514350" y="299142"/>
            <a:ext cx="1066800" cy="354216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8B3071C-8BC5-4367-83AD-E215D8B2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ALLURA / TECHNICAL PORTFOLIO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394B277-92DE-4C72-82A2-57DB3489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01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3132D840-7C5A-4201-9A3A-6CCEE9BD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5" name="title-panel">
            <a:extLst xmlns:a="http://schemas.openxmlformats.org/drawingml/2006/main">
              <a:ext uri="{FF2B5EF4-FFF2-40B4-BE49-F238E27FC236}">
                <a16:creationId xmlns:a16="http://schemas.microsoft.com/office/drawing/2014/main" id="{06A71656-D3CC-4157-B083-895E4EF1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90625"/>
            <a:ext cx="11163300" cy="3667125"/>
          </a:xfrm>
          <a:prstGeom xmlns:a="http://schemas.openxmlformats.org/drawingml/2006/main" prst="roundRect">
            <a:avLst>
              <a:gd name="adj" fmla="val 4675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0">
            <a:solidFill>
              <a:srgbClr val="0F1720"/>
            </a:solidFill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D1B7F1D4-1030-4130-A019-0301E534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4D1F"/>
                </a:solidFill>
              </a:defRPr>
            </a:pPr>
            <a:r>
              <a:rPr sz="1125" b="1">
                <a:solidFill>
                  <a:srgbClr val="FF4D1F"/>
                </a:solidFill>
              </a:rPr>
              <a:t>AGENTIC AI FRAMEWORK &amp; HARNESS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9CBA1CD-1554-4932-AB5B-E56FFA12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28825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7F3EE"/>
                </a:solidFill>
              </a:defRPr>
            </a:pPr>
            <a:r>
              <a:rPr sz="4050" b="1">
                <a:solidFill>
                  <a:srgbClr val="F7F3EE"/>
                </a:solidFill>
              </a:rPr>
              <a:t>Evidence-first</a:t>
            </a:r>
          </a:p>
          <a:p xmlns:a="http://schemas.openxmlformats.org/drawingml/2006/main">
            <a:pPr algn="l">
              <a:defRPr sz="4050" b="1">
                <a:solidFill>
                  <a:srgbClr val="F7F3EE"/>
                </a:solidFill>
              </a:defRPr>
            </a:pPr>
            <a:r>
              <a:rPr sz="4050" b="1">
                <a:solidFill>
                  <a:srgbClr val="F7F3EE"/>
                </a:solidFill>
              </a:rPr>
              <a:t>enterprise AI systems.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1B85482A-F014-4676-B822-67CE8857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3EE"/>
                </a:solidFill>
              </a:defRPr>
            </a:pPr>
            <a:r>
              <a:rPr sz="1500" b="0">
                <a:solidFill>
                  <a:srgbClr val="F7F3EE"/>
                </a:solidFill>
              </a:rPr>
              <a:t>A technical case study of orchestration, governed memory, policy hooks, deterministic evaluation and developer interfaces.</a:t>
            </a:r>
          </a:p>
        </p:txBody>
      </p:sp>
      <p:sp>
        <p:nvSpPr>
          <p:cNvPr id="9" name="blue-module">
            <a:extLst xmlns:a="http://schemas.openxmlformats.org/drawingml/2006/main">
              <a:ext uri="{FF2B5EF4-FFF2-40B4-BE49-F238E27FC236}">
                <a16:creationId xmlns:a16="http://schemas.microsoft.com/office/drawing/2014/main" id="{AC9F75D1-9071-4E9D-8359-033EB39C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1952625" cy="1952625"/>
          </a:xfrm>
          <a:prstGeom xmlns:a="http://schemas.openxmlformats.org/drawingml/2006/main" prst="roundRect">
            <a:avLst>
              <a:gd name="adj" fmla="val 8780"/>
            </a:avLst>
          </a:prstGeom>
          <a:solidFill xmlns:a="http://schemas.openxmlformats.org/drawingml/2006/main">
            <a:srgbClr val="0D47A1"/>
          </a:solidFill>
          <a:ln xmlns:a="http://schemas.openxmlformats.org/drawingml/2006/main" w="0">
            <a:solidFill>
              <a:srgbClr val="0D47A1"/>
            </a:solidFill>
            <a:prstDash val="solid"/>
          </a:ln>
        </p:spPr>
      </p:sp>
      <p:sp>
        <p:nvSpPr>
          <p:cNvPr id="10" name="orange-module">
            <a:extLst xmlns:a="http://schemas.openxmlformats.org/drawingml/2006/main">
              <a:ext uri="{FF2B5EF4-FFF2-40B4-BE49-F238E27FC236}">
                <a16:creationId xmlns:a16="http://schemas.microsoft.com/office/drawing/2014/main" id="{1AF8D434-D1A3-4D86-A475-387082BC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908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1F"/>
          </a:solidFill>
          <a:ln xmlns:a="http://schemas.openxmlformats.org/drawingml/2006/main" w="0">
            <a:solidFill>
              <a:srgbClr val="FF4D1F"/>
            </a:solidFill>
            <a:prstDash val="solid"/>
          </a:ln>
        </p:spPr>
      </p:sp>
      <p:sp>
        <p:nvSpPr>
          <p:cNvPr id="11" name="green-module">
            <a:extLst xmlns:a="http://schemas.openxmlformats.org/drawingml/2006/main">
              <a:ext uri="{FF2B5EF4-FFF2-40B4-BE49-F238E27FC236}">
                <a16:creationId xmlns:a16="http://schemas.microsoft.com/office/drawing/2014/main" id="{4BAD5A9D-C7F4-461B-A83B-C46989CB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905250"/>
            <a:ext cx="857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8A4B"/>
          </a:solidFill>
          <a:ln xmlns:a="http://schemas.openxmlformats.org/drawingml/2006/main" w="0">
            <a:solidFill>
              <a:srgbClr val="148A4B"/>
            </a:solidFill>
            <a:prstDash val="solid"/>
          </a:ln>
        </p:spPr>
      </p:sp>
      <p:sp>
        <p:nvSpPr>
          <p:cNvPr id="12" name="role">
            <a:extLst xmlns:a="http://schemas.openxmlformats.org/drawingml/2006/main">
              <a:ext uri="{FF2B5EF4-FFF2-40B4-BE49-F238E27FC236}">
                <a16:creationId xmlns:a16="http://schemas.microsoft.com/office/drawing/2014/main" id="{B9DAAA57-9F1E-4192-A5A5-1129FA9B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816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0"/>
                </a:solidFill>
              </a:defRPr>
            </a:pPr>
            <a:r>
              <a:rPr sz="1650" b="1">
                <a:solidFill>
                  <a:srgbClr val="0F1720"/>
                </a:solidFill>
              </a:rPr>
              <a:t>Role-aligned to Principal Engineer, Agentic AI Framework and Harness</a:t>
            </a:r>
          </a:p>
        </p:txBody>
      </p:sp>
      <p:sp>
        <p:nvSpPr>
          <p:cNvPr id="13" name="disclaimer">
            <a:extLst xmlns:a="http://schemas.openxmlformats.org/drawingml/2006/main">
              <a:ext uri="{FF2B5EF4-FFF2-40B4-BE49-F238E27FC236}">
                <a16:creationId xmlns:a16="http://schemas.microsoft.com/office/drawing/2014/main" id="{24B873E9-A91A-4EC0-9F47-0294D5DA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A"/>
                </a:solidFill>
              </a:defRPr>
            </a:pPr>
            <a:r>
              <a:rPr sz="1200" b="0">
                <a:solidFill>
                  <a:srgbClr val="59616A"/>
                </a:solidFill>
              </a:rPr>
              <a:t>Prepared as a portfolio presentation. It does not imply client sponsorship, employment or deployment.</a:t>
            </a:r>
          </a:p>
        </p:txBody>
      </p:sp>
    </p:spTree>
    <p:extLst>
      <p:ext uri="{BB962C8B-B14F-4D97-AF65-F5344CB8AC3E}">
        <p14:creationId xmlns:p14="http://schemas.microsoft.com/office/powerpoint/2010/main" val="16286495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04b90632343c4"/>
          <a:stretch xmlns:a="http://schemas.openxmlformats.org/drawingml/2006/main"/>
        </p:blipFill>
        <p:spPr>
          <a:xfrm xmlns:a="http://schemas.openxmlformats.org/drawingml/2006/main">
            <a:off x="514350" y="299142"/>
            <a:ext cx="1066800" cy="354216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0BED45CA-5EEB-461F-9BB6-ED32AAAB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ALLURA MEMORY / PORTFOLIO EVIDENCE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4F12100-3890-4CEC-9307-EBDA69DC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02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DFC44033-777E-49D0-B4E2-30E58888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41A4E01-9B5F-477A-8263-C718B5E9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0"/>
                </a:solidFill>
              </a:defRPr>
            </a:pPr>
            <a:r>
              <a:rPr sz="2475" b="1">
                <a:solidFill>
                  <a:srgbClr val="0F1720"/>
                </a:solidFill>
              </a:rPr>
              <a:t>What this portfolio demonstrates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B2954C4C-63E9-4A67-8B3D-C9FDDC9B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A"/>
                </a:solidFill>
              </a:defRPr>
            </a:pPr>
            <a:r>
              <a:rPr sz="1350" b="0">
                <a:solidFill>
                  <a:srgbClr val="59616A"/>
                </a:solidFill>
              </a:rPr>
              <a:t>The role calls for reusable frameworks, deterministic harnesses, memory, policy hooks and developer interfaces. Each claim below has a repository or CI source.</a:t>
            </a:r>
          </a:p>
        </p:txBody>
      </p:sp>
      <p:sp>
        <p:nvSpPr>
          <p:cNvPr id="7" name="theme-0">
            <a:extLst xmlns:a="http://schemas.openxmlformats.org/drawingml/2006/main">
              <a:ext uri="{FF2B5EF4-FFF2-40B4-BE49-F238E27FC236}">
                <a16:creationId xmlns:a16="http://schemas.microsoft.com/office/drawing/2014/main" id="{E83AA223-253F-44EB-890A-CEF05362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19050">
            <a:solidFill>
              <a:srgbClr val="0D47A1"/>
            </a:solidFill>
            <a:prstDash val="solid"/>
          </a:ln>
        </p:spPr>
      </p:sp>
      <p:sp>
        <p:nvSpPr>
          <p:cNvPr id="8" name="theme-kicker-0">
            <a:extLst xmlns:a="http://schemas.openxmlformats.org/drawingml/2006/main">
              <a:ext uri="{FF2B5EF4-FFF2-40B4-BE49-F238E27FC236}">
                <a16:creationId xmlns:a16="http://schemas.microsoft.com/office/drawing/2014/main" id="{B351B246-2828-4414-BE8C-E89F0838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FRAMEWORK</a:t>
            </a:r>
          </a:p>
        </p:txBody>
      </p:sp>
      <p:sp>
        <p:nvSpPr>
          <p:cNvPr id="9" name="theme-heading-0">
            <a:extLst xmlns:a="http://schemas.openxmlformats.org/drawingml/2006/main">
              <a:ext uri="{FF2B5EF4-FFF2-40B4-BE49-F238E27FC236}">
                <a16:creationId xmlns:a16="http://schemas.microsoft.com/office/drawing/2014/main" id="{689C8BA8-FE7E-4485-B0FE-224C9CC0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0"/>
                </a:solidFill>
              </a:defRPr>
            </a:pPr>
            <a:r>
              <a:rPr sz="1875" b="1">
                <a:solidFill>
                  <a:srgbClr val="0F1720"/>
                </a:solidFill>
              </a:rPr>
              <a:t>Reusable execution path</a:t>
            </a:r>
          </a:p>
        </p:txBody>
      </p:sp>
      <p:sp>
        <p:nvSpPr>
          <p:cNvPr id="10" name="theme-body-0">
            <a:extLst xmlns:a="http://schemas.openxmlformats.org/drawingml/2006/main">
              <a:ext uri="{FF2B5EF4-FFF2-40B4-BE49-F238E27FC236}">
                <a16:creationId xmlns:a16="http://schemas.microsoft.com/office/drawing/2014/main" id="{79FBB17F-12E4-48FC-8AD7-7E9714F7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A"/>
                </a:solidFill>
              </a:defRPr>
            </a:pPr>
            <a:r>
              <a:rPr sz="1200" b="0">
                <a:solidFill>
                  <a:srgbClr val="59616A"/>
                </a:solidFill>
              </a:rPr>
              <a:t>Orchestration plus shared interfaces</a:t>
            </a:r>
          </a:p>
        </p:txBody>
      </p:sp>
      <p:sp>
        <p:nvSpPr>
          <p:cNvPr id="11" name="theme-1">
            <a:extLst xmlns:a="http://schemas.openxmlformats.org/drawingml/2006/main">
              <a:ext uri="{FF2B5EF4-FFF2-40B4-BE49-F238E27FC236}">
                <a16:creationId xmlns:a16="http://schemas.microsoft.com/office/drawing/2014/main" id="{E675C915-6F8F-433E-9D25-386D0D59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7650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19050">
            <a:solidFill>
              <a:srgbClr val="FF4D1F"/>
            </a:solidFill>
            <a:prstDash val="solid"/>
          </a:ln>
        </p:spPr>
      </p:sp>
      <p:sp>
        <p:nvSpPr>
          <p:cNvPr id="12" name="theme-kicker-1">
            <a:extLst xmlns:a="http://schemas.openxmlformats.org/drawingml/2006/main">
              <a:ext uri="{FF2B5EF4-FFF2-40B4-BE49-F238E27FC236}">
                <a16:creationId xmlns:a16="http://schemas.microsoft.com/office/drawing/2014/main" id="{B30EDEE3-F41F-4934-BD6D-78627D85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4D1F"/>
                </a:solidFill>
              </a:defRPr>
            </a:pPr>
            <a:r>
              <a:rPr sz="975" b="1">
                <a:solidFill>
                  <a:srgbClr val="FF4D1F"/>
                </a:solidFill>
              </a:rPr>
              <a:t>HARNESS</a:t>
            </a:r>
          </a:p>
        </p:txBody>
      </p:sp>
      <p:sp>
        <p:nvSpPr>
          <p:cNvPr id="13" name="theme-heading-1">
            <a:extLst xmlns:a="http://schemas.openxmlformats.org/drawingml/2006/main">
              <a:ext uri="{FF2B5EF4-FFF2-40B4-BE49-F238E27FC236}">
                <a16:creationId xmlns:a16="http://schemas.microsoft.com/office/drawing/2014/main" id="{389C5B29-F439-4D23-AB90-D67968D9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623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0"/>
                </a:solidFill>
              </a:defRPr>
            </a:pPr>
            <a:r>
              <a:rPr sz="1875" b="1">
                <a:solidFill>
                  <a:srgbClr val="0F1720"/>
                </a:solidFill>
              </a:rPr>
              <a:t>Deterministic evidence</a:t>
            </a:r>
          </a:p>
        </p:txBody>
      </p:sp>
      <p:sp>
        <p:nvSpPr>
          <p:cNvPr id="14" name="theme-body-1">
            <a:extLst xmlns:a="http://schemas.openxmlformats.org/drawingml/2006/main">
              <a:ext uri="{FF2B5EF4-FFF2-40B4-BE49-F238E27FC236}">
                <a16:creationId xmlns:a16="http://schemas.microsoft.com/office/drawing/2014/main" id="{1E45F6AC-73C4-4D84-9AA7-7D162258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981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A"/>
                </a:solidFill>
              </a:defRPr>
            </a:pPr>
            <a:r>
              <a:rPr sz="1200" b="0">
                <a:solidFill>
                  <a:srgbClr val="59616A"/>
                </a:solidFill>
              </a:rPr>
              <a:t>Scenario, receipt, replay, evaluation</a:t>
            </a:r>
          </a:p>
        </p:txBody>
      </p:sp>
      <p:sp>
        <p:nvSpPr>
          <p:cNvPr id="15" name="theme-2">
            <a:extLst xmlns:a="http://schemas.openxmlformats.org/drawingml/2006/main">
              <a:ext uri="{FF2B5EF4-FFF2-40B4-BE49-F238E27FC236}">
                <a16:creationId xmlns:a16="http://schemas.microsoft.com/office/drawing/2014/main" id="{FB9012BE-7E32-4037-8452-B317C3BF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9050">
            <a:solidFill>
              <a:srgbClr val="148A4B"/>
            </a:solidFill>
            <a:prstDash val="solid"/>
          </a:ln>
        </p:spPr>
      </p:sp>
      <p:sp>
        <p:nvSpPr>
          <p:cNvPr id="16" name="theme-kicker-2">
            <a:extLst xmlns:a="http://schemas.openxmlformats.org/drawingml/2006/main">
              <a:ext uri="{FF2B5EF4-FFF2-40B4-BE49-F238E27FC236}">
                <a16:creationId xmlns:a16="http://schemas.microsoft.com/office/drawing/2014/main" id="{7C12B8F0-0273-4E92-B748-D15D7CFD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81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8A4B"/>
                </a:solidFill>
              </a:defRPr>
            </a:pPr>
            <a:r>
              <a:rPr sz="975" b="1">
                <a:solidFill>
                  <a:srgbClr val="148A4B"/>
                </a:solidFill>
              </a:rPr>
              <a:t>GOVERNANCE</a:t>
            </a:r>
          </a:p>
        </p:txBody>
      </p:sp>
      <p:sp>
        <p:nvSpPr>
          <p:cNvPr id="17" name="theme-heading-2">
            <a:extLst xmlns:a="http://schemas.openxmlformats.org/drawingml/2006/main">
              <a:ext uri="{FF2B5EF4-FFF2-40B4-BE49-F238E27FC236}">
                <a16:creationId xmlns:a16="http://schemas.microsoft.com/office/drawing/2014/main" id="{520C5599-12E6-49A9-9CD4-FC7A4156C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0"/>
                </a:solidFill>
              </a:defRPr>
            </a:pPr>
            <a:r>
              <a:rPr sz="1875" b="1">
                <a:solidFill>
                  <a:srgbClr val="0F1720"/>
                </a:solidFill>
              </a:rPr>
              <a:t>Controls in the flow</a:t>
            </a:r>
          </a:p>
        </p:txBody>
      </p:sp>
      <p:sp>
        <p:nvSpPr>
          <p:cNvPr id="18" name="theme-body-2">
            <a:extLst xmlns:a="http://schemas.openxmlformats.org/drawingml/2006/main">
              <a:ext uri="{FF2B5EF4-FFF2-40B4-BE49-F238E27FC236}">
                <a16:creationId xmlns:a16="http://schemas.microsoft.com/office/drawing/2014/main" id="{01C50796-4FD3-47CB-9E30-D265CA62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A"/>
                </a:solidFill>
              </a:defRPr>
            </a:pPr>
            <a:r>
              <a:rPr sz="1200" b="0">
                <a:solidFill>
                  <a:srgbClr val="59616A"/>
                </a:solidFill>
              </a:rPr>
              <a:t>Proof, policy, RLS, durable audit</a:t>
            </a:r>
          </a:p>
        </p:txBody>
      </p:sp>
      <p:sp>
        <p:nvSpPr>
          <p:cNvPr id="19" name="theme-3">
            <a:extLst xmlns:a="http://schemas.openxmlformats.org/drawingml/2006/main">
              <a:ext uri="{FF2B5EF4-FFF2-40B4-BE49-F238E27FC236}">
                <a16:creationId xmlns:a16="http://schemas.microsoft.com/office/drawing/2014/main" id="{951982CD-E454-48E7-A46C-D876983E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4765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7F3EE"/>
          </a:solidFill>
          <a:ln xmlns:a="http://schemas.openxmlformats.org/drawingml/2006/main" w="19050">
            <a:solidFill>
              <a:srgbClr val="0F1720"/>
            </a:solidFill>
            <a:prstDash val="solid"/>
          </a:ln>
        </p:spPr>
      </p:sp>
      <p:sp>
        <p:nvSpPr>
          <p:cNvPr id="20" name="theme-kicker-3">
            <a:extLst xmlns:a="http://schemas.openxmlformats.org/drawingml/2006/main">
              <a:ext uri="{FF2B5EF4-FFF2-40B4-BE49-F238E27FC236}">
                <a16:creationId xmlns:a16="http://schemas.microsoft.com/office/drawing/2014/main" id="{BC2892B5-AF4C-4F81-81D7-84EA3F1B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0"/>
                </a:solidFill>
              </a:defRPr>
            </a:pPr>
            <a:r>
              <a:rPr sz="975" b="1">
                <a:solidFill>
                  <a:srgbClr val="0F1720"/>
                </a:solidFill>
              </a:rPr>
              <a:t>DEVELOPER EXPERIENCE</a:t>
            </a:r>
          </a:p>
        </p:txBody>
      </p:sp>
      <p:sp>
        <p:nvSpPr>
          <p:cNvPr id="21" name="theme-heading-3">
            <a:extLst xmlns:a="http://schemas.openxmlformats.org/drawingml/2006/main">
              <a:ext uri="{FF2B5EF4-FFF2-40B4-BE49-F238E27FC236}">
                <a16:creationId xmlns:a16="http://schemas.microsoft.com/office/drawing/2014/main" id="{F979BA74-5745-42AC-AFCA-98C64F93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623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0"/>
                </a:solidFill>
              </a:defRPr>
            </a:pPr>
            <a:r>
              <a:rPr sz="1875" b="1">
                <a:solidFill>
                  <a:srgbClr val="0F1720"/>
                </a:solidFill>
              </a:rPr>
              <a:t>One governed core</a:t>
            </a:r>
          </a:p>
        </p:txBody>
      </p:sp>
      <p:sp>
        <p:nvSpPr>
          <p:cNvPr id="22" name="theme-body-3">
            <a:extLst xmlns:a="http://schemas.openxmlformats.org/drawingml/2006/main">
              <a:ext uri="{FF2B5EF4-FFF2-40B4-BE49-F238E27FC236}">
                <a16:creationId xmlns:a16="http://schemas.microsoft.com/office/drawing/2014/main" id="{A2807574-5B71-4481-B632-1F31F1C7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81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A"/>
                </a:solidFill>
              </a:defRPr>
            </a:pPr>
            <a:r>
              <a:rPr sz="1200" b="0">
                <a:solidFill>
                  <a:srgbClr val="59616A"/>
                </a:solidFill>
              </a:rPr>
              <a:t>SDK, API/MCP and CLI</a:t>
            </a:r>
          </a:p>
        </p:txBody>
      </p:sp>
      <p:sp>
        <p:nvSpPr>
          <p:cNvPr id="23" name="close">
            <a:extLst xmlns:a="http://schemas.openxmlformats.org/drawingml/2006/main">
              <a:ext uri="{FF2B5EF4-FFF2-40B4-BE49-F238E27FC236}">
                <a16:creationId xmlns:a16="http://schemas.microsoft.com/office/drawing/2014/main" id="{F7E66286-6A1E-495F-AA32-00136335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</a:defRPr>
            </a:pPr>
            <a:r>
              <a:rPr sz="1500" b="1">
                <a:solidFill>
                  <a:srgbClr val="0F1720"/>
                </a:solidFill>
              </a:rPr>
              <a:t>The focus is evidence that a hiring panel can inspect—not a collection of visual claims.</a:t>
            </a:r>
          </a:p>
        </p:txBody>
      </p:sp>
    </p:spTree>
    <p:extLst>
      <p:ext uri="{BB962C8B-B14F-4D97-AF65-F5344CB8AC3E}">
        <p14:creationId xmlns:p14="http://schemas.microsoft.com/office/powerpoint/2010/main" val="3701882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b8ea4b11a4fc2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16E001F9-AB85-4EC6-8B1F-68D939CB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03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918962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de19d7738413c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14F0D901-5B76-487B-A927-4C3EDD24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04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783631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bb306c6154d11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458FD5C8-3623-493C-82DA-23C3385F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05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240464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3edac2b9046ab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0EE968D7-45BB-42F9-BB4C-E9C7EBC8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06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9771502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22850a6bf4436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9808C76B-9534-4A2A-ACAA-F92C89C5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07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317399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b8f0e15b34a73"/>
          <a:stretch xmlns:a="http://schemas.openxmlformats.org/drawingml/2006/main"/>
        </p:blipFill>
        <p:spPr>
          <a:xfrm xmlns:a="http://schemas.openxmlformats.org/drawingml/2006/main">
            <a:off x="400050" y="34528"/>
            <a:ext cx="11391900" cy="6407944"/>
          </a:xfrm>
          <a:prstGeom xmlns:a="http://schemas.openxmlformats.org/drawingml/2006/main" prst="rect">
            <a:avLst/>
          </a:prstGeom>
        </p:spPr>
      </p:pic>
      <p:sp>
        <p:nvSpPr>
          <p:cNvPr id="2" name="boundary">
            <a:extLst xmlns:a="http://schemas.openxmlformats.org/drawingml/2006/main">
              <a:ext uri="{FF2B5EF4-FFF2-40B4-BE49-F238E27FC236}">
                <a16:creationId xmlns:a16="http://schemas.microsoft.com/office/drawing/2014/main" id="{661681A7-829F-4D3E-BA2C-E5E45C73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9616A"/>
                </a:solidFill>
              </a:defRPr>
            </a:pPr>
            <a:r>
              <a:rPr sz="825" b="0">
                <a:solidFill>
                  <a:srgbClr val="59616A"/>
                </a:solidFill>
              </a:rPr>
              <a:t>08  /  ALLURA TECHNICAL CASE STUDY — ROLE-ALIGNED EVIDENCE; NO EXTERNAL AFFILIATION IMPLIED.</a:t>
            </a:r>
          </a:p>
        </p:txBody>
      </p:sp>
    </p:spTree>
    <p:extLst>
      <p:ext uri="{BB962C8B-B14F-4D97-AF65-F5344CB8AC3E}">
        <p14:creationId xmlns:p14="http://schemas.microsoft.com/office/powerpoint/2010/main" val="15064009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2189a353b4fef"/>
          <a:stretch xmlns:a="http://schemas.openxmlformats.org/drawingml/2006/main"/>
        </p:blipFill>
        <p:spPr>
          <a:xfrm xmlns:a="http://schemas.openxmlformats.org/drawingml/2006/main">
            <a:off x="514350" y="299142"/>
            <a:ext cx="1066800" cy="354216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B689BA1-D598-49BD-A5C9-18D52222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ALLURA MEMORY / PORTFOLIO EVIDENCE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1ED19D9-677A-40CA-A324-8297AACF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09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1BBF248F-9251-4869-B68F-67F63BBB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586B0AD-365F-416A-8BBA-69FC3418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0"/>
                </a:solidFill>
              </a:defRPr>
            </a:pPr>
            <a:r>
              <a:rPr sz="2475" b="1">
                <a:solidFill>
                  <a:srgbClr val="0F1720"/>
                </a:solidFill>
              </a:rPr>
              <a:t>Dashboard proof: captured, not invented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2182972D-6955-48FE-9A59-05BAF3DF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A"/>
                </a:solidFill>
              </a:defRPr>
            </a:pPr>
            <a:r>
              <a:rPr sz="1350" b="0">
                <a:solidFill>
                  <a:srgbClr val="59616A"/>
                </a:solidFill>
              </a:rPr>
              <a:t>The Curator route is a real capture from the active local demonstration. The manifest records seven tested routes, all HTTP 200, without captured console or page errors.</a:t>
            </a:r>
          </a:p>
        </p:txBody>
      </p:sp>
      <p:sp>
        <p:nvSpPr>
          <p:cNvPr id="7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ADFAD29A-6B0B-494A-97ED-F2CDC5BE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6667500" cy="3524250"/>
          </a:xfrm>
          <a:prstGeom xmlns:a="http://schemas.openxmlformats.org/drawingml/2006/main" prst="roundRect">
            <a:avLst>
              <a:gd name="adj" fmla="val 4865"/>
            </a:avLst>
          </a:prstGeom>
          <a:solidFill xmlns:a="http://schemas.openxmlformats.org/drawingml/2006/main">
            <a:srgbClr val="0F1720"/>
          </a:solidFill>
          <a:ln xmlns:a="http://schemas.openxmlformats.org/drawingml/2006/main" w="9525">
            <a:solidFill>
              <a:srgbClr val="0F172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a7829153f4101"/>
          <a:stretch xmlns:a="http://schemas.openxmlformats.org/drawingml/2006/main"/>
        </p:blipFill>
        <p:spPr>
          <a:xfrm xmlns:a="http://schemas.openxmlformats.org/drawingml/2006/main">
            <a:off x="2071170" y="2352675"/>
            <a:ext cx="3553860" cy="3295650"/>
          </a:xfrm>
          <a:prstGeom xmlns:a="http://schemas.openxmlformats.org/drawingml/2006/main" prst="rect">
            <a:avLst/>
          </a:prstGeom>
        </p:spPr>
      </p:pic>
      <p:sp>
        <p:nvSpPr>
          <p:cNvPr id="9" name="metric-0">
            <a:extLst xmlns:a="http://schemas.openxmlformats.org/drawingml/2006/main">
              <a:ext uri="{FF2B5EF4-FFF2-40B4-BE49-F238E27FC236}">
                <a16:creationId xmlns:a16="http://schemas.microsoft.com/office/drawing/2014/main" id="{A0257A01-FC79-4F42-AA3D-64ECA8D6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288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47A1"/>
                </a:solidFill>
              </a:defRPr>
            </a:pPr>
            <a:r>
              <a:rPr sz="1800" b="1">
                <a:solidFill>
                  <a:srgbClr val="0D47A1"/>
                </a:solidFill>
              </a:rPr>
              <a:t>7 / 7</a:t>
            </a:r>
          </a:p>
        </p:txBody>
      </p:sp>
      <p:sp>
        <p:nvSpPr>
          <p:cNvPr id="10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2A63A7D4-8F8C-49CD-BC5F-2C50AE49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717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0"/>
                </a:solidFill>
              </a:defRPr>
            </a:pPr>
            <a:r>
              <a:rPr sz="1275" b="1">
                <a:solidFill>
                  <a:srgbClr val="0F1720"/>
                </a:solidFill>
              </a:rPr>
              <a:t>captured routes returned HTTP 200</a:t>
            </a:r>
          </a:p>
        </p:txBody>
      </p:sp>
      <p:sp>
        <p:nvSpPr>
          <p:cNvPr id="11" name="metric-rule-0">
            <a:extLst xmlns:a="http://schemas.openxmlformats.org/drawingml/2006/main">
              <a:ext uri="{FF2B5EF4-FFF2-40B4-BE49-F238E27FC236}">
                <a16:creationId xmlns:a16="http://schemas.microsoft.com/office/drawing/2014/main" id="{1FE10971-2FC2-4A4F-BAE9-2F837238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575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12" name="metric-1">
            <a:extLst xmlns:a="http://schemas.openxmlformats.org/drawingml/2006/main">
              <a:ext uri="{FF2B5EF4-FFF2-40B4-BE49-F238E27FC236}">
                <a16:creationId xmlns:a16="http://schemas.microsoft.com/office/drawing/2014/main" id="{35734923-E688-4A08-AEBF-1C269B2B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29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4D1F"/>
                </a:solidFill>
              </a:defRPr>
            </a:pPr>
            <a:r>
              <a:rPr sz="1800" b="1">
                <a:solidFill>
                  <a:srgbClr val="FF4D1F"/>
                </a:solidFill>
              </a:rPr>
              <a:t>0</a:t>
            </a:r>
          </a:p>
        </p:txBody>
      </p:sp>
      <p:sp>
        <p:nvSpPr>
          <p:cNvPr id="13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B0277DED-AC63-4539-8315-EE442606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719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0"/>
                </a:solidFill>
              </a:defRPr>
            </a:pPr>
            <a:r>
              <a:rPr sz="1275" b="1">
                <a:solidFill>
                  <a:srgbClr val="0F1720"/>
                </a:solidFill>
              </a:rPr>
              <a:t>captured redirects</a:t>
            </a:r>
          </a:p>
        </p:txBody>
      </p:sp>
      <p:sp>
        <p:nvSpPr>
          <p:cNvPr id="14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E6F107A8-AEB8-4791-9CE4-2D50E848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257675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15" name="metric-2">
            <a:extLst xmlns:a="http://schemas.openxmlformats.org/drawingml/2006/main">
              <a:ext uri="{FF2B5EF4-FFF2-40B4-BE49-F238E27FC236}">
                <a16:creationId xmlns:a16="http://schemas.microsoft.com/office/drawing/2014/main" id="{DFD6143B-F4EA-4342-86E4-E832A551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29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4B"/>
                </a:solidFill>
              </a:defRPr>
            </a:pPr>
            <a:r>
              <a:rPr sz="1800" b="1">
                <a:solidFill>
                  <a:srgbClr val="148A4B"/>
                </a:solidFill>
              </a:rPr>
              <a:t>0</a:t>
            </a:r>
          </a:p>
        </p:txBody>
      </p:sp>
      <p:sp>
        <p:nvSpPr>
          <p:cNvPr id="16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BAA4F343-3DF6-4AF7-B558-50D7802F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720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0"/>
                </a:solidFill>
              </a:defRPr>
            </a:pPr>
            <a:r>
              <a:rPr sz="1275" b="1">
                <a:solidFill>
                  <a:srgbClr val="0F1720"/>
                </a:solidFill>
              </a:rPr>
              <a:t>captured console or page errors</a:t>
            </a:r>
          </a:p>
        </p:txBody>
      </p:sp>
      <p:sp>
        <p:nvSpPr>
          <p:cNvPr id="17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D5975C17-438F-4A7A-8D73-B4C481C3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578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18" name="boundary">
            <a:extLst xmlns:a="http://schemas.openxmlformats.org/drawingml/2006/main">
              <a:ext uri="{FF2B5EF4-FFF2-40B4-BE49-F238E27FC236}">
                <a16:creationId xmlns:a16="http://schemas.microsoft.com/office/drawing/2014/main" id="{680E19DB-55D9-42F7-ACFD-4296BB42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43625"/>
            <a:ext cx="1038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0"/>
                </a:solidFill>
              </a:defRPr>
            </a:pPr>
            <a:r>
              <a:rPr sz="1200" b="1">
                <a:solidFill>
                  <a:srgbClr val="0F1720"/>
                </a:solidFill>
              </a:rPr>
              <a:t>The screenshot is supporting evidence, not a mockup and not a substitute for the system test record.</a:t>
            </a:r>
          </a:p>
        </p:txBody>
      </p:sp>
    </p:spTree>
    <p:extLst>
      <p:ext uri="{BB962C8B-B14F-4D97-AF65-F5344CB8AC3E}">
        <p14:creationId xmlns:p14="http://schemas.microsoft.com/office/powerpoint/2010/main" val="1948737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7abb724474680"/>
          <a:stretch xmlns:a="http://schemas.openxmlformats.org/drawingml/2006/main"/>
        </p:blipFill>
        <p:spPr>
          <a:xfrm xmlns:a="http://schemas.openxmlformats.org/drawingml/2006/main">
            <a:off x="514350" y="299142"/>
            <a:ext cx="1066800" cy="354216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323FB9F-2F19-406B-9876-F1246532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810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ALLURA MEMORY / PORTFOLIO EVIDENCE</a:t>
            </a:r>
          </a:p>
        </p:txBody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8764627-CBEA-4B0D-81BE-D32200FE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3810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47A1"/>
                </a:solidFill>
              </a:defRPr>
            </a:pPr>
            <a:r>
              <a:rPr sz="975" b="1">
                <a:solidFill>
                  <a:srgbClr val="0D47A1"/>
                </a:solidFill>
              </a:rPr>
              <a:t>10</a:t>
            </a:r>
          </a:p>
        </p:txBody>
      </p:sp>
      <p:sp>
        <p:nvSpPr>
          <p:cNvPr id="4" name="top-rule">
            <a:extLst xmlns:a="http://schemas.openxmlformats.org/drawingml/2006/main">
              <a:ext uri="{FF2B5EF4-FFF2-40B4-BE49-F238E27FC236}">
                <a16:creationId xmlns:a16="http://schemas.microsoft.com/office/drawing/2014/main" id="{E8964123-3417-4333-B4B3-067D462B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1CA"/>
            </a:solidFill>
            <a:prstDash val="solid"/>
          </a:ln>
        </p:spPr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AC3CD3F-9907-4A42-B900-8C26CC73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F1720"/>
                </a:solidFill>
              </a:defRPr>
            </a:pPr>
            <a:r>
              <a:rPr sz="2475" b="1">
                <a:solidFill>
                  <a:srgbClr val="0F1720"/>
                </a:solidFill>
              </a:rPr>
              <a:t>How to verify this portfolio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01AEF84E-546C-4643-B044-84D9E24B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16A"/>
                </a:solidFill>
              </a:defRPr>
            </a:pPr>
            <a:r>
              <a:rPr sz="1425" b="0">
                <a:solidFill>
                  <a:srgbClr val="59616A"/>
                </a:solidFill>
              </a:rPr>
              <a:t>A credible portfolio lets the reviewer separate demonstrated capability from future work.</a:t>
            </a:r>
          </a:p>
        </p:txBody>
      </p:sp>
      <p:sp>
        <p:nvSpPr>
          <p:cNvPr id="7" name="col-0">
            <a:extLst xmlns:a="http://schemas.openxmlformats.org/drawingml/2006/main">
              <a:ext uri="{FF2B5EF4-FFF2-40B4-BE49-F238E27FC236}">
                <a16:creationId xmlns:a16="http://schemas.microsoft.com/office/drawing/2014/main" id="{BC925F83-A981-414E-9F45-2CA78999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33375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7EEF9"/>
          </a:solidFill>
          <a:ln xmlns:a="http://schemas.openxmlformats.org/drawingml/2006/main" w="19050">
            <a:solidFill>
              <a:srgbClr val="0D47A1"/>
            </a:solidFill>
            <a:prstDash val="solid"/>
          </a:ln>
        </p:spPr>
      </p:sp>
      <p:sp>
        <p:nvSpPr>
          <p:cNvPr id="8" name="col-kicker-0">
            <a:extLst xmlns:a="http://schemas.openxmlformats.org/drawingml/2006/main">
              <a:ext uri="{FF2B5EF4-FFF2-40B4-BE49-F238E27FC236}">
                <a16:creationId xmlns:a16="http://schemas.microsoft.com/office/drawing/2014/main" id="{A86B0502-5D35-4B93-A270-787A191B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D47A1"/>
                </a:solidFill>
              </a:defRPr>
            </a:pPr>
            <a:r>
              <a:rPr sz="1050" b="1">
                <a:solidFill>
                  <a:srgbClr val="0D47A1"/>
                </a:solidFill>
              </a:rPr>
              <a:t>VERIFY NOW</a:t>
            </a:r>
          </a:p>
        </p:txBody>
      </p:sp>
      <p:sp>
        <p:nvSpPr>
          <p:cNvPr id="9" name="dot-0-0">
            <a:extLst xmlns:a="http://schemas.openxmlformats.org/drawingml/2006/main">
              <a:ext uri="{FF2B5EF4-FFF2-40B4-BE49-F238E27FC236}">
                <a16:creationId xmlns:a16="http://schemas.microsoft.com/office/drawing/2014/main" id="{382FD605-CB0C-42B5-AB91-7E69078B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7A1"/>
          </a:solidFill>
          <a:ln xmlns:a="http://schemas.openxmlformats.org/drawingml/2006/main" w="0">
            <a:solidFill>
              <a:srgbClr val="0D47A1"/>
            </a:solidFill>
            <a:prstDash val="solid"/>
          </a:ln>
        </p:spPr>
      </p:sp>
      <p:sp>
        <p:nvSpPr>
          <p:cNvPr id="10" name="list-0-0">
            <a:extLst xmlns:a="http://schemas.openxmlformats.org/drawingml/2006/main">
              <a:ext uri="{FF2B5EF4-FFF2-40B4-BE49-F238E27FC236}">
                <a16:creationId xmlns:a16="http://schemas.microsoft.com/office/drawing/2014/main" id="{6952BB55-6690-45A9-A469-9A22A78F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</a:defRPr>
            </a:pPr>
            <a:r>
              <a:rPr sz="1350" b="1">
                <a:solidFill>
                  <a:srgbClr val="0F1720"/>
                </a:solidFill>
              </a:rPr>
              <a:t>Read FRAMEWORK.md</a:t>
            </a:r>
          </a:p>
        </p:txBody>
      </p:sp>
      <p:sp>
        <p:nvSpPr>
          <p:cNvPr id="11" name="dot-0-1">
            <a:extLst xmlns:a="http://schemas.openxmlformats.org/drawingml/2006/main">
              <a:ext uri="{FF2B5EF4-FFF2-40B4-BE49-F238E27FC236}">
                <a16:creationId xmlns:a16="http://schemas.microsoft.com/office/drawing/2014/main" id="{32894D24-E7A9-4E12-82D2-A4BA152A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7A1"/>
          </a:solidFill>
          <a:ln xmlns:a="http://schemas.openxmlformats.org/drawingml/2006/main" w="0">
            <a:solidFill>
              <a:srgbClr val="0D47A1"/>
            </a:solidFill>
            <a:prstDash val="solid"/>
          </a:ln>
        </p:spPr>
      </p:sp>
      <p:sp>
        <p:nvSpPr>
          <p:cNvPr id="12" name="list-0-1">
            <a:extLst xmlns:a="http://schemas.openxmlformats.org/drawingml/2006/main">
              <a:ext uri="{FF2B5EF4-FFF2-40B4-BE49-F238E27FC236}">
                <a16:creationId xmlns:a16="http://schemas.microsoft.com/office/drawing/2014/main" id="{87D259DF-66C5-4339-8A5A-770EA6E4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95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Inspect PR #138</a:t>
            </a:r>
          </a:p>
        </p:txBody>
      </p:sp>
      <p:sp>
        <p:nvSpPr>
          <p:cNvPr id="13" name="dot-0-2">
            <a:extLst xmlns:a="http://schemas.openxmlformats.org/drawingml/2006/main">
              <a:ext uri="{FF2B5EF4-FFF2-40B4-BE49-F238E27FC236}">
                <a16:creationId xmlns:a16="http://schemas.microsoft.com/office/drawing/2014/main" id="{A35228AC-95E7-40EE-A162-ED47C928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7A1"/>
          </a:solidFill>
          <a:ln xmlns:a="http://schemas.openxmlformats.org/drawingml/2006/main" w="0">
            <a:solidFill>
              <a:srgbClr val="0D47A1"/>
            </a:solidFill>
            <a:prstDash val="solid"/>
          </a:ln>
        </p:spPr>
      </p:sp>
      <p:sp>
        <p:nvSpPr>
          <p:cNvPr id="14" name="list-0-2">
            <a:extLst xmlns:a="http://schemas.openxmlformats.org/drawingml/2006/main">
              <a:ext uri="{FF2B5EF4-FFF2-40B4-BE49-F238E27FC236}">
                <a16:creationId xmlns:a16="http://schemas.microsoft.com/office/drawing/2014/main" id="{55CEB970-46FD-4C90-A413-51709490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Open CI evidence run</a:t>
            </a:r>
          </a:p>
        </p:txBody>
      </p:sp>
      <p:sp>
        <p:nvSpPr>
          <p:cNvPr id="15" name="dot-0-3">
            <a:extLst xmlns:a="http://schemas.openxmlformats.org/drawingml/2006/main">
              <a:ext uri="{FF2B5EF4-FFF2-40B4-BE49-F238E27FC236}">
                <a16:creationId xmlns:a16="http://schemas.microsoft.com/office/drawing/2014/main" id="{B06DB4F0-7282-4686-AD57-A2F57DCD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47A1"/>
          </a:solidFill>
          <a:ln xmlns:a="http://schemas.openxmlformats.org/drawingml/2006/main" w="0">
            <a:solidFill>
              <a:srgbClr val="0D47A1"/>
            </a:solidFill>
            <a:prstDash val="solid"/>
          </a:ln>
        </p:spPr>
      </p:sp>
      <p:sp>
        <p:nvSpPr>
          <p:cNvPr id="16" name="list-0-3">
            <a:extLst xmlns:a="http://schemas.openxmlformats.org/drawingml/2006/main">
              <a:ext uri="{FF2B5EF4-FFF2-40B4-BE49-F238E27FC236}">
                <a16:creationId xmlns:a16="http://schemas.microsoft.com/office/drawing/2014/main" id="{804C02A4-0CD9-42C6-9BAF-AA937838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14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Review dashboard manifest</a:t>
            </a:r>
          </a:p>
        </p:txBody>
      </p:sp>
      <p:sp>
        <p:nvSpPr>
          <p:cNvPr id="17" name="col-1">
            <a:extLst xmlns:a="http://schemas.openxmlformats.org/drawingml/2006/main">
              <a:ext uri="{FF2B5EF4-FFF2-40B4-BE49-F238E27FC236}">
                <a16:creationId xmlns:a16="http://schemas.microsoft.com/office/drawing/2014/main" id="{90773D1A-94EF-4F67-86B6-716E32AD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333375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5F1E9"/>
          </a:solidFill>
          <a:ln xmlns:a="http://schemas.openxmlformats.org/drawingml/2006/main" w="19050">
            <a:solidFill>
              <a:srgbClr val="148A4B"/>
            </a:solidFill>
            <a:prstDash val="solid"/>
          </a:ln>
        </p:spPr>
      </p:sp>
      <p:sp>
        <p:nvSpPr>
          <p:cNvPr id="18" name="col-kicker-1">
            <a:extLst xmlns:a="http://schemas.openxmlformats.org/drawingml/2006/main">
              <a:ext uri="{FF2B5EF4-FFF2-40B4-BE49-F238E27FC236}">
                <a16:creationId xmlns:a16="http://schemas.microsoft.com/office/drawing/2014/main" id="{F3C8CB2F-20FA-44D0-BC1D-77765D27B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860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8A4B"/>
                </a:solidFill>
              </a:defRPr>
            </a:pPr>
            <a:r>
              <a:rPr sz="1050" b="1">
                <a:solidFill>
                  <a:srgbClr val="148A4B"/>
                </a:solidFill>
              </a:rPr>
              <a:t>DEMONSTRATED HERE</a:t>
            </a:r>
          </a:p>
        </p:txBody>
      </p:sp>
      <p:sp>
        <p:nvSpPr>
          <p:cNvPr id="19" name="dot-1-0">
            <a:extLst xmlns:a="http://schemas.openxmlformats.org/drawingml/2006/main">
              <a:ext uri="{FF2B5EF4-FFF2-40B4-BE49-F238E27FC236}">
                <a16:creationId xmlns:a16="http://schemas.microsoft.com/office/drawing/2014/main" id="{F5E266C9-67CF-400B-A72E-5FFB04DB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B"/>
          </a:solidFill>
          <a:ln xmlns:a="http://schemas.openxmlformats.org/drawingml/2006/main" w="0">
            <a:solidFill>
              <a:srgbClr val="148A4B"/>
            </a:solidFill>
            <a:prstDash val="solid"/>
          </a:ln>
        </p:spPr>
      </p:sp>
      <p:sp>
        <p:nvSpPr>
          <p:cNvPr id="20" name="list-1-0">
            <a:extLst xmlns:a="http://schemas.openxmlformats.org/drawingml/2006/main">
              <a:ext uri="{FF2B5EF4-FFF2-40B4-BE49-F238E27FC236}">
                <a16:creationId xmlns:a16="http://schemas.microsoft.com/office/drawing/2014/main" id="{AA51A6F5-F507-49C7-8F00-B7BF5893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</a:defRPr>
            </a:pPr>
            <a:r>
              <a:rPr sz="1350" b="1">
                <a:solidFill>
                  <a:srgbClr val="0F1720"/>
                </a:solidFill>
              </a:rPr>
              <a:t>Framework and harness</a:t>
            </a:r>
          </a:p>
        </p:txBody>
      </p:sp>
      <p:sp>
        <p:nvSpPr>
          <p:cNvPr id="21" name="dot-1-1">
            <a:extLst xmlns:a="http://schemas.openxmlformats.org/drawingml/2006/main">
              <a:ext uri="{FF2B5EF4-FFF2-40B4-BE49-F238E27FC236}">
                <a16:creationId xmlns:a16="http://schemas.microsoft.com/office/drawing/2014/main" id="{170E8D05-19B6-4105-9762-53D2DAD5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B"/>
          </a:solidFill>
          <a:ln xmlns:a="http://schemas.openxmlformats.org/drawingml/2006/main" w="0">
            <a:solidFill>
              <a:srgbClr val="148A4B"/>
            </a:solidFill>
            <a:prstDash val="solid"/>
          </a:ln>
        </p:spPr>
      </p:sp>
      <p:sp>
        <p:nvSpPr>
          <p:cNvPr id="22" name="list-1-1">
            <a:extLst xmlns:a="http://schemas.openxmlformats.org/drawingml/2006/main">
              <a:ext uri="{FF2B5EF4-FFF2-40B4-BE49-F238E27FC236}">
                <a16:creationId xmlns:a16="http://schemas.microsoft.com/office/drawing/2014/main" id="{FE8968F8-6A94-4337-B334-7D537AC7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95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Governed memory</a:t>
            </a:r>
          </a:p>
        </p:txBody>
      </p:sp>
      <p:sp>
        <p:nvSpPr>
          <p:cNvPr id="23" name="dot-1-2">
            <a:extLst xmlns:a="http://schemas.openxmlformats.org/drawingml/2006/main">
              <a:ext uri="{FF2B5EF4-FFF2-40B4-BE49-F238E27FC236}">
                <a16:creationId xmlns:a16="http://schemas.microsoft.com/office/drawing/2014/main" id="{96FEC05C-2F36-4FAA-AD1E-F2F9EB28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B"/>
          </a:solidFill>
          <a:ln xmlns:a="http://schemas.openxmlformats.org/drawingml/2006/main" w="0">
            <a:solidFill>
              <a:srgbClr val="148A4B"/>
            </a:solidFill>
            <a:prstDash val="solid"/>
          </a:ln>
        </p:spPr>
      </p:sp>
      <p:sp>
        <p:nvSpPr>
          <p:cNvPr id="24" name="list-1-2">
            <a:extLst xmlns:a="http://schemas.openxmlformats.org/drawingml/2006/main">
              <a:ext uri="{FF2B5EF4-FFF2-40B4-BE49-F238E27FC236}">
                <a16:creationId xmlns:a16="http://schemas.microsoft.com/office/drawing/2014/main" id="{C9129397-C0CD-4D08-8497-674D3BD3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05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Policy and audit path</a:t>
            </a:r>
          </a:p>
        </p:txBody>
      </p:sp>
      <p:sp>
        <p:nvSpPr>
          <p:cNvPr id="25" name="dot-1-3">
            <a:extLst xmlns:a="http://schemas.openxmlformats.org/drawingml/2006/main">
              <a:ext uri="{FF2B5EF4-FFF2-40B4-BE49-F238E27FC236}">
                <a16:creationId xmlns:a16="http://schemas.microsoft.com/office/drawing/2014/main" id="{759DBAFB-DCB1-453B-9CE0-A5EEE2D4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B"/>
          </a:solidFill>
          <a:ln xmlns:a="http://schemas.openxmlformats.org/drawingml/2006/main" w="0">
            <a:solidFill>
              <a:srgbClr val="148A4B"/>
            </a:solidFill>
            <a:prstDash val="solid"/>
          </a:ln>
        </p:spPr>
      </p:sp>
      <p:sp>
        <p:nvSpPr>
          <p:cNvPr id="26" name="list-1-3">
            <a:extLst xmlns:a="http://schemas.openxmlformats.org/drawingml/2006/main">
              <a:ext uri="{FF2B5EF4-FFF2-40B4-BE49-F238E27FC236}">
                <a16:creationId xmlns:a16="http://schemas.microsoft.com/office/drawing/2014/main" id="{723BB293-1FFB-4946-B85F-CCD4363D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14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Developer interfaces</a:t>
            </a:r>
          </a:p>
        </p:txBody>
      </p:sp>
      <p:sp>
        <p:nvSpPr>
          <p:cNvPr id="27" name="col-2">
            <a:extLst xmlns:a="http://schemas.openxmlformats.org/drawingml/2006/main">
              <a:ext uri="{FF2B5EF4-FFF2-40B4-BE49-F238E27FC236}">
                <a16:creationId xmlns:a16="http://schemas.microsoft.com/office/drawing/2014/main" id="{65F8B59C-997E-4DBB-8AF4-436591F5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33375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CE9E2"/>
          </a:solidFill>
          <a:ln xmlns:a="http://schemas.openxmlformats.org/drawingml/2006/main" w="19050">
            <a:solidFill>
              <a:srgbClr val="FF4D1F"/>
            </a:solidFill>
            <a:prstDash val="solid"/>
          </a:ln>
        </p:spPr>
      </p:sp>
      <p:sp>
        <p:nvSpPr>
          <p:cNvPr id="28" name="col-kicker-2">
            <a:extLst xmlns:a="http://schemas.openxmlformats.org/drawingml/2006/main">
              <a:ext uri="{FF2B5EF4-FFF2-40B4-BE49-F238E27FC236}">
                <a16:creationId xmlns:a16="http://schemas.microsoft.com/office/drawing/2014/main" id="{B575E243-F7F2-4A30-B0F6-C5F9C901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76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4D1F"/>
                </a:solidFill>
              </a:defRPr>
            </a:pPr>
            <a:r>
              <a:rPr sz="1050" b="1">
                <a:solidFill>
                  <a:srgbClr val="FF4D1F"/>
                </a:solidFill>
              </a:rPr>
              <a:t>NOT CLAIMED</a:t>
            </a:r>
          </a:p>
        </p:txBody>
      </p:sp>
      <p:sp>
        <p:nvSpPr>
          <p:cNvPr id="29" name="dot-2-0">
            <a:extLst xmlns:a="http://schemas.openxmlformats.org/drawingml/2006/main">
              <a:ext uri="{FF2B5EF4-FFF2-40B4-BE49-F238E27FC236}">
                <a16:creationId xmlns:a16="http://schemas.microsoft.com/office/drawing/2014/main" id="{04C99844-AC6B-430F-91EA-8BD63E3E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81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1F"/>
          </a:solidFill>
          <a:ln xmlns:a="http://schemas.openxmlformats.org/drawingml/2006/main" w="0">
            <a:solidFill>
              <a:srgbClr val="FF4D1F"/>
            </a:solidFill>
            <a:prstDash val="solid"/>
          </a:ln>
        </p:spPr>
      </p:sp>
      <p:sp>
        <p:nvSpPr>
          <p:cNvPr id="30" name="list-2-0">
            <a:extLst xmlns:a="http://schemas.openxmlformats.org/drawingml/2006/main">
              <a:ext uri="{FF2B5EF4-FFF2-40B4-BE49-F238E27FC236}">
                <a16:creationId xmlns:a16="http://schemas.microsoft.com/office/drawing/2014/main" id="{F6887F3C-240F-4B51-A5C5-3F3B2EFE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86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0"/>
                </a:solidFill>
              </a:defRPr>
            </a:pPr>
            <a:r>
              <a:rPr sz="1350" b="1">
                <a:solidFill>
                  <a:srgbClr val="0F1720"/>
                </a:solidFill>
              </a:rPr>
              <a:t>External client deployment</a:t>
            </a:r>
          </a:p>
        </p:txBody>
      </p:sp>
      <p:sp>
        <p:nvSpPr>
          <p:cNvPr id="31" name="dot-2-1">
            <a:extLst xmlns:a="http://schemas.openxmlformats.org/drawingml/2006/main">
              <a:ext uri="{FF2B5EF4-FFF2-40B4-BE49-F238E27FC236}">
                <a16:creationId xmlns:a16="http://schemas.microsoft.com/office/drawing/2014/main" id="{B03A9FE6-8810-4021-BA03-CF06EE7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90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1F"/>
          </a:solidFill>
          <a:ln xmlns:a="http://schemas.openxmlformats.org/drawingml/2006/main" w="0">
            <a:solidFill>
              <a:srgbClr val="FF4D1F"/>
            </a:solidFill>
            <a:prstDash val="solid"/>
          </a:ln>
        </p:spPr>
      </p:sp>
      <p:sp>
        <p:nvSpPr>
          <p:cNvPr id="32" name="list-2-1">
            <a:extLst xmlns:a="http://schemas.openxmlformats.org/drawingml/2006/main">
              <a:ext uri="{FF2B5EF4-FFF2-40B4-BE49-F238E27FC236}">
                <a16:creationId xmlns:a16="http://schemas.microsoft.com/office/drawing/2014/main" id="{E23CBBC6-4CFE-4D5D-A8A7-D572FB2E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956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client affiliation</a:t>
            </a:r>
          </a:p>
        </p:txBody>
      </p:sp>
      <p:sp>
        <p:nvSpPr>
          <p:cNvPr id="33" name="dot-2-2">
            <a:extLst xmlns:a="http://schemas.openxmlformats.org/drawingml/2006/main">
              <a:ext uri="{FF2B5EF4-FFF2-40B4-BE49-F238E27FC236}">
                <a16:creationId xmlns:a16="http://schemas.microsoft.com/office/drawing/2014/main" id="{7375784B-E9E4-4A34-A81F-7E34A47F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1F"/>
          </a:solidFill>
          <a:ln xmlns:a="http://schemas.openxmlformats.org/drawingml/2006/main" w="0">
            <a:solidFill>
              <a:srgbClr val="FF4D1F"/>
            </a:solidFill>
            <a:prstDash val="solid"/>
          </a:ln>
        </p:spPr>
      </p:sp>
      <p:sp>
        <p:nvSpPr>
          <p:cNvPr id="34" name="list-2-2">
            <a:extLst xmlns:a="http://schemas.openxmlformats.org/drawingml/2006/main">
              <a:ext uri="{FF2B5EF4-FFF2-40B4-BE49-F238E27FC236}">
                <a16:creationId xmlns:a16="http://schemas.microsoft.com/office/drawing/2014/main" id="{5003EE46-C203-484A-B924-B1B51337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05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Production-scale adoption</a:t>
            </a:r>
          </a:p>
        </p:txBody>
      </p:sp>
      <p:sp>
        <p:nvSpPr>
          <p:cNvPr id="35" name="dot-2-3">
            <a:extLst xmlns:a="http://schemas.openxmlformats.org/drawingml/2006/main">
              <a:ext uri="{FF2B5EF4-FFF2-40B4-BE49-F238E27FC236}">
                <a16:creationId xmlns:a16="http://schemas.microsoft.com/office/drawing/2014/main" id="{B46AA4A3-6EF7-4F54-82C7-43649512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10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1F"/>
          </a:solidFill>
          <a:ln xmlns:a="http://schemas.openxmlformats.org/drawingml/2006/main" w="0">
            <a:solidFill>
              <a:srgbClr val="FF4D1F"/>
            </a:solidFill>
            <a:prstDash val="solid"/>
          </a:ln>
        </p:spPr>
      </p:sp>
      <p:sp>
        <p:nvSpPr>
          <p:cNvPr id="36" name="list-2-3">
            <a:extLst xmlns:a="http://schemas.openxmlformats.org/drawingml/2006/main">
              <a:ext uri="{FF2B5EF4-FFF2-40B4-BE49-F238E27FC236}">
                <a16:creationId xmlns:a16="http://schemas.microsoft.com/office/drawing/2014/main" id="{2B3A67FE-2AC4-4FD8-904D-EC8E23E3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148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F1720"/>
                </a:solidFill>
              </a:defRPr>
            </a:pPr>
            <a:r>
              <a:rPr sz="1350" b="0">
                <a:solidFill>
                  <a:srgbClr val="0F1720"/>
                </a:solidFill>
              </a:rPr>
              <a:t>Unverified performance results</a:t>
            </a:r>
          </a:p>
        </p:txBody>
      </p:sp>
      <p:sp>
        <p:nvSpPr>
          <p:cNvPr id="37" name="close">
            <a:extLst xmlns:a="http://schemas.openxmlformats.org/drawingml/2006/main">
              <a:ext uri="{FF2B5EF4-FFF2-40B4-BE49-F238E27FC236}">
                <a16:creationId xmlns:a16="http://schemas.microsoft.com/office/drawing/2014/main" id="{A41C1F54-8703-44E0-85DA-5DF26407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626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0"/>
                </a:solidFill>
              </a:defRPr>
            </a:pPr>
            <a:r>
              <a:rPr sz="1500" b="1">
                <a:solidFill>
                  <a:srgbClr val="0F1720"/>
                </a:solidFill>
              </a:rPr>
              <a:t>The final deliverable includes editable SVGs, source notes, alt text and a production release gate.</a:t>
            </a:r>
          </a:p>
        </p:txBody>
      </p:sp>
    </p:spTree>
    <p:extLst>
      <p:ext uri="{BB962C8B-B14F-4D97-AF65-F5344CB8AC3E}">
        <p14:creationId xmlns:p14="http://schemas.microsoft.com/office/powerpoint/2010/main" val="852771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2026-09-02T03:13:32.5870000Z</dcterms:created>
  <dcterms:modified xsi:type="dcterms:W3CDTF">2026-09-02T03:13:32.5870000Z</dcterms:modified>
</coreProperties>
</file>